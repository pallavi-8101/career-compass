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6" r:id="rId20"/>
    <p:sldId id="275" r:id="rId21"/>
    <p:sldId id="307" r:id="rId22"/>
    <p:sldId id="308" r:id="rId23"/>
    <p:sldId id="309" r:id="rId24"/>
    <p:sldId id="310" r:id="rId25"/>
    <p:sldId id="31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AC6A22-0359-4F79-9770-D5A846D42416}" type="datetimeFigureOut">
              <a:rPr lang="en-IN" smtClean="0"/>
              <a:t>09-09-2026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B3C89E-FA9F-4126-A540-42429B28A505}" type="slidenum">
              <a:rPr lang="en-IN" smtClean="0"/>
              <a:t>‹#›</a:t>
            </a:fld>
            <a:endParaRPr lang="en-IN"/>
          </a:p>
        </p:txBody>
      </p:sp>
    </p:spTree>
    <p:extLst>
      <p:ext uri="{BB962C8B-B14F-4D97-AF65-F5344CB8AC3E}">
        <p14:creationId xmlns:p14="http://schemas.microsoft.com/office/powerpoint/2010/main" val="4247738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119D3-F19C-7129-8604-B0B4449E21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BA6A42E-E740-45C9-BE63-1F1FB8CDE1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523CE56-10F7-D750-FCF0-3F0C5DDCC6A5}"/>
              </a:ext>
            </a:extLst>
          </p:cNvPr>
          <p:cNvSpPr>
            <a:spLocks noGrp="1"/>
          </p:cNvSpPr>
          <p:nvPr>
            <p:ph type="dt" sz="half" idx="10"/>
          </p:nvPr>
        </p:nvSpPr>
        <p:spPr/>
        <p:txBody>
          <a:bodyPr/>
          <a:lstStyle/>
          <a:p>
            <a:fld id="{711BD719-7130-4A99-AC4C-06BDA9629077}" type="datetimeFigureOut">
              <a:rPr lang="en-IN" smtClean="0"/>
              <a:t>08-09-2026</a:t>
            </a:fld>
            <a:endParaRPr lang="en-IN"/>
          </a:p>
        </p:txBody>
      </p:sp>
      <p:sp>
        <p:nvSpPr>
          <p:cNvPr id="5" name="Footer Placeholder 4">
            <a:extLst>
              <a:ext uri="{FF2B5EF4-FFF2-40B4-BE49-F238E27FC236}">
                <a16:creationId xmlns:a16="http://schemas.microsoft.com/office/drawing/2014/main" id="{389B069A-6A45-245B-5488-4527686EB2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8118CE-B100-D02A-BD71-840A22A561CF}"/>
              </a:ext>
            </a:extLst>
          </p:cNvPr>
          <p:cNvSpPr>
            <a:spLocks noGrp="1"/>
          </p:cNvSpPr>
          <p:nvPr>
            <p:ph type="sldNum" sz="quarter" idx="12"/>
          </p:nvPr>
        </p:nvSpPr>
        <p:spPr/>
        <p:txBody>
          <a:bodyPr/>
          <a:lstStyle/>
          <a:p>
            <a:fld id="{D919D2F6-B6BF-4607-98D1-C03B5CBDBAC9}" type="slidenum">
              <a:rPr lang="en-IN" smtClean="0"/>
              <a:t>‹#›</a:t>
            </a:fld>
            <a:endParaRPr lang="en-IN"/>
          </a:p>
        </p:txBody>
      </p:sp>
    </p:spTree>
    <p:extLst>
      <p:ext uri="{BB962C8B-B14F-4D97-AF65-F5344CB8AC3E}">
        <p14:creationId xmlns:p14="http://schemas.microsoft.com/office/powerpoint/2010/main" val="3948506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5487E-67A1-EE45-9CDF-1ABB99509C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2247FBB-F6C4-D68D-5820-C9C89C61FD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67A9D6-5CD3-795D-E5A3-0DE766ED0F37}"/>
              </a:ext>
            </a:extLst>
          </p:cNvPr>
          <p:cNvSpPr>
            <a:spLocks noGrp="1"/>
          </p:cNvSpPr>
          <p:nvPr>
            <p:ph type="dt" sz="half" idx="10"/>
          </p:nvPr>
        </p:nvSpPr>
        <p:spPr/>
        <p:txBody>
          <a:bodyPr/>
          <a:lstStyle/>
          <a:p>
            <a:fld id="{711BD719-7130-4A99-AC4C-06BDA9629077}" type="datetimeFigureOut">
              <a:rPr lang="en-IN" smtClean="0"/>
              <a:t>08-09-2026</a:t>
            </a:fld>
            <a:endParaRPr lang="en-IN"/>
          </a:p>
        </p:txBody>
      </p:sp>
      <p:sp>
        <p:nvSpPr>
          <p:cNvPr id="5" name="Footer Placeholder 4">
            <a:extLst>
              <a:ext uri="{FF2B5EF4-FFF2-40B4-BE49-F238E27FC236}">
                <a16:creationId xmlns:a16="http://schemas.microsoft.com/office/drawing/2014/main" id="{050835F3-6020-6715-9BEB-68762ED901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777807-AB5E-2285-2905-FB381E6B0B86}"/>
              </a:ext>
            </a:extLst>
          </p:cNvPr>
          <p:cNvSpPr>
            <a:spLocks noGrp="1"/>
          </p:cNvSpPr>
          <p:nvPr>
            <p:ph type="sldNum" sz="quarter" idx="12"/>
          </p:nvPr>
        </p:nvSpPr>
        <p:spPr/>
        <p:txBody>
          <a:bodyPr/>
          <a:lstStyle/>
          <a:p>
            <a:fld id="{D919D2F6-B6BF-4607-98D1-C03B5CBDBAC9}" type="slidenum">
              <a:rPr lang="en-IN" smtClean="0"/>
              <a:t>‹#›</a:t>
            </a:fld>
            <a:endParaRPr lang="en-IN"/>
          </a:p>
        </p:txBody>
      </p:sp>
    </p:spTree>
    <p:extLst>
      <p:ext uri="{BB962C8B-B14F-4D97-AF65-F5344CB8AC3E}">
        <p14:creationId xmlns:p14="http://schemas.microsoft.com/office/powerpoint/2010/main" val="3760325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26FEC-5214-1662-BB9B-91C544B0F4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BAF9C6C-EDE1-DA0E-4905-11D94A86647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B738AB4-3E5B-43A9-A7DB-98862C09F905}"/>
              </a:ext>
            </a:extLst>
          </p:cNvPr>
          <p:cNvSpPr>
            <a:spLocks noGrp="1"/>
          </p:cNvSpPr>
          <p:nvPr>
            <p:ph type="dt" sz="half" idx="10"/>
          </p:nvPr>
        </p:nvSpPr>
        <p:spPr/>
        <p:txBody>
          <a:bodyPr/>
          <a:lstStyle/>
          <a:p>
            <a:fld id="{711BD719-7130-4A99-AC4C-06BDA9629077}" type="datetimeFigureOut">
              <a:rPr lang="en-IN" smtClean="0"/>
              <a:t>08-09-2026</a:t>
            </a:fld>
            <a:endParaRPr lang="en-IN"/>
          </a:p>
        </p:txBody>
      </p:sp>
      <p:sp>
        <p:nvSpPr>
          <p:cNvPr id="5" name="Footer Placeholder 4">
            <a:extLst>
              <a:ext uri="{FF2B5EF4-FFF2-40B4-BE49-F238E27FC236}">
                <a16:creationId xmlns:a16="http://schemas.microsoft.com/office/drawing/2014/main" id="{1824B89B-7AE1-589A-F35E-3173693E6E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BC76EB-12B7-9642-078F-B53F0E2569C2}"/>
              </a:ext>
            </a:extLst>
          </p:cNvPr>
          <p:cNvSpPr>
            <a:spLocks noGrp="1"/>
          </p:cNvSpPr>
          <p:nvPr>
            <p:ph type="sldNum" sz="quarter" idx="12"/>
          </p:nvPr>
        </p:nvSpPr>
        <p:spPr/>
        <p:txBody>
          <a:bodyPr/>
          <a:lstStyle/>
          <a:p>
            <a:fld id="{D919D2F6-B6BF-4607-98D1-C03B5CBDBAC9}" type="slidenum">
              <a:rPr lang="en-IN" smtClean="0"/>
              <a:t>‹#›</a:t>
            </a:fld>
            <a:endParaRPr lang="en-IN"/>
          </a:p>
        </p:txBody>
      </p:sp>
    </p:spTree>
    <p:extLst>
      <p:ext uri="{BB962C8B-B14F-4D97-AF65-F5344CB8AC3E}">
        <p14:creationId xmlns:p14="http://schemas.microsoft.com/office/powerpoint/2010/main" val="2582266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0F8ED-3CA5-03C1-0DC9-5AE43A00CDE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3234BEF-1B82-F306-F422-BBEFA268F9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B151BC8-CF6D-9EA8-3A2F-F030E96D0B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F72234C-C268-F739-DE0D-34481BF158E5}"/>
              </a:ext>
            </a:extLst>
          </p:cNvPr>
          <p:cNvSpPr>
            <a:spLocks noGrp="1"/>
          </p:cNvSpPr>
          <p:nvPr>
            <p:ph type="dt" sz="half" idx="10"/>
          </p:nvPr>
        </p:nvSpPr>
        <p:spPr/>
        <p:txBody>
          <a:bodyPr/>
          <a:lstStyle/>
          <a:p>
            <a:fld id="{711BD719-7130-4A99-AC4C-06BDA9629077}" type="datetimeFigureOut">
              <a:rPr lang="en-IN" smtClean="0"/>
              <a:t>08-09-2026</a:t>
            </a:fld>
            <a:endParaRPr lang="en-IN"/>
          </a:p>
        </p:txBody>
      </p:sp>
      <p:sp>
        <p:nvSpPr>
          <p:cNvPr id="6" name="Footer Placeholder 5">
            <a:extLst>
              <a:ext uri="{FF2B5EF4-FFF2-40B4-BE49-F238E27FC236}">
                <a16:creationId xmlns:a16="http://schemas.microsoft.com/office/drawing/2014/main" id="{EC6F7399-F48C-FEB8-A9D8-91FDEF0E28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5C3DCFD-E190-3A7D-4927-EB66AB8B9F5F}"/>
              </a:ext>
            </a:extLst>
          </p:cNvPr>
          <p:cNvSpPr>
            <a:spLocks noGrp="1"/>
          </p:cNvSpPr>
          <p:nvPr>
            <p:ph type="sldNum" sz="quarter" idx="12"/>
          </p:nvPr>
        </p:nvSpPr>
        <p:spPr/>
        <p:txBody>
          <a:bodyPr/>
          <a:lstStyle/>
          <a:p>
            <a:fld id="{D919D2F6-B6BF-4607-98D1-C03B5CBDBAC9}" type="slidenum">
              <a:rPr lang="en-IN" smtClean="0"/>
              <a:t>‹#›</a:t>
            </a:fld>
            <a:endParaRPr lang="en-IN"/>
          </a:p>
        </p:txBody>
      </p:sp>
    </p:spTree>
    <p:extLst>
      <p:ext uri="{BB962C8B-B14F-4D97-AF65-F5344CB8AC3E}">
        <p14:creationId xmlns:p14="http://schemas.microsoft.com/office/powerpoint/2010/main" val="2182826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61C74-642A-D412-1CF5-1AE674F64CB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CA364D7-AD7F-9C33-A92E-3B9439E91B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A08630-7D7B-B468-1000-36EF0F9602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85F1469-0C2A-705C-3536-6ABA148C89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31B0E5-64B1-AC52-B274-D116066137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DF1DB3D-94B4-F64F-E099-1F07D144D9F1}"/>
              </a:ext>
            </a:extLst>
          </p:cNvPr>
          <p:cNvSpPr>
            <a:spLocks noGrp="1"/>
          </p:cNvSpPr>
          <p:nvPr>
            <p:ph type="dt" sz="half" idx="10"/>
          </p:nvPr>
        </p:nvSpPr>
        <p:spPr/>
        <p:txBody>
          <a:bodyPr/>
          <a:lstStyle/>
          <a:p>
            <a:fld id="{711BD719-7130-4A99-AC4C-06BDA9629077}" type="datetimeFigureOut">
              <a:rPr lang="en-IN" smtClean="0"/>
              <a:t>08-09-2026</a:t>
            </a:fld>
            <a:endParaRPr lang="en-IN"/>
          </a:p>
        </p:txBody>
      </p:sp>
      <p:sp>
        <p:nvSpPr>
          <p:cNvPr id="8" name="Footer Placeholder 7">
            <a:extLst>
              <a:ext uri="{FF2B5EF4-FFF2-40B4-BE49-F238E27FC236}">
                <a16:creationId xmlns:a16="http://schemas.microsoft.com/office/drawing/2014/main" id="{5CA2C4A1-4718-41E6-7396-528BEDB6AB0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BA85CF7-7BC3-449F-F154-B3A1600D0C66}"/>
              </a:ext>
            </a:extLst>
          </p:cNvPr>
          <p:cNvSpPr>
            <a:spLocks noGrp="1"/>
          </p:cNvSpPr>
          <p:nvPr>
            <p:ph type="sldNum" sz="quarter" idx="12"/>
          </p:nvPr>
        </p:nvSpPr>
        <p:spPr/>
        <p:txBody>
          <a:bodyPr/>
          <a:lstStyle/>
          <a:p>
            <a:fld id="{D919D2F6-B6BF-4607-98D1-C03B5CBDBAC9}" type="slidenum">
              <a:rPr lang="en-IN" smtClean="0"/>
              <a:t>‹#›</a:t>
            </a:fld>
            <a:endParaRPr lang="en-IN"/>
          </a:p>
        </p:txBody>
      </p:sp>
    </p:spTree>
    <p:extLst>
      <p:ext uri="{BB962C8B-B14F-4D97-AF65-F5344CB8AC3E}">
        <p14:creationId xmlns:p14="http://schemas.microsoft.com/office/powerpoint/2010/main" val="2047521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42A7E-191A-8870-8E3E-754272A1A2E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49D3972-8AE8-D5EC-F954-7DC831F33EC5}"/>
              </a:ext>
            </a:extLst>
          </p:cNvPr>
          <p:cNvSpPr>
            <a:spLocks noGrp="1"/>
          </p:cNvSpPr>
          <p:nvPr>
            <p:ph type="dt" sz="half" idx="10"/>
          </p:nvPr>
        </p:nvSpPr>
        <p:spPr/>
        <p:txBody>
          <a:bodyPr/>
          <a:lstStyle/>
          <a:p>
            <a:fld id="{711BD719-7130-4A99-AC4C-06BDA9629077}" type="datetimeFigureOut">
              <a:rPr lang="en-IN" smtClean="0"/>
              <a:t>08-09-2026</a:t>
            </a:fld>
            <a:endParaRPr lang="en-IN"/>
          </a:p>
        </p:txBody>
      </p:sp>
      <p:sp>
        <p:nvSpPr>
          <p:cNvPr id="4" name="Footer Placeholder 3">
            <a:extLst>
              <a:ext uri="{FF2B5EF4-FFF2-40B4-BE49-F238E27FC236}">
                <a16:creationId xmlns:a16="http://schemas.microsoft.com/office/drawing/2014/main" id="{99D5A156-CDB9-D821-18B7-ADCF1D5020F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C7D10E3-9922-5354-BB46-3A0958D2A601}"/>
              </a:ext>
            </a:extLst>
          </p:cNvPr>
          <p:cNvSpPr>
            <a:spLocks noGrp="1"/>
          </p:cNvSpPr>
          <p:nvPr>
            <p:ph type="sldNum" sz="quarter" idx="12"/>
          </p:nvPr>
        </p:nvSpPr>
        <p:spPr/>
        <p:txBody>
          <a:bodyPr/>
          <a:lstStyle/>
          <a:p>
            <a:fld id="{D919D2F6-B6BF-4607-98D1-C03B5CBDBAC9}" type="slidenum">
              <a:rPr lang="en-IN" smtClean="0"/>
              <a:t>‹#›</a:t>
            </a:fld>
            <a:endParaRPr lang="en-IN"/>
          </a:p>
        </p:txBody>
      </p:sp>
    </p:spTree>
    <p:extLst>
      <p:ext uri="{BB962C8B-B14F-4D97-AF65-F5344CB8AC3E}">
        <p14:creationId xmlns:p14="http://schemas.microsoft.com/office/powerpoint/2010/main" val="2858984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52BE48-36AC-50C6-6039-1072534364CF}"/>
              </a:ext>
            </a:extLst>
          </p:cNvPr>
          <p:cNvSpPr>
            <a:spLocks noGrp="1"/>
          </p:cNvSpPr>
          <p:nvPr>
            <p:ph type="dt" sz="half" idx="10"/>
          </p:nvPr>
        </p:nvSpPr>
        <p:spPr/>
        <p:txBody>
          <a:bodyPr/>
          <a:lstStyle/>
          <a:p>
            <a:fld id="{711BD719-7130-4A99-AC4C-06BDA9629077}" type="datetimeFigureOut">
              <a:rPr lang="en-IN" smtClean="0"/>
              <a:t>08-09-2026</a:t>
            </a:fld>
            <a:endParaRPr lang="en-IN"/>
          </a:p>
        </p:txBody>
      </p:sp>
      <p:sp>
        <p:nvSpPr>
          <p:cNvPr id="3" name="Footer Placeholder 2">
            <a:extLst>
              <a:ext uri="{FF2B5EF4-FFF2-40B4-BE49-F238E27FC236}">
                <a16:creationId xmlns:a16="http://schemas.microsoft.com/office/drawing/2014/main" id="{43CCAF5E-33A0-84FA-58FF-1BB38EBF3C1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2F67F8F-D8B3-3A07-AA2E-E904149B3669}"/>
              </a:ext>
            </a:extLst>
          </p:cNvPr>
          <p:cNvSpPr>
            <a:spLocks noGrp="1"/>
          </p:cNvSpPr>
          <p:nvPr>
            <p:ph type="sldNum" sz="quarter" idx="12"/>
          </p:nvPr>
        </p:nvSpPr>
        <p:spPr/>
        <p:txBody>
          <a:bodyPr/>
          <a:lstStyle/>
          <a:p>
            <a:fld id="{D919D2F6-B6BF-4607-98D1-C03B5CBDBAC9}" type="slidenum">
              <a:rPr lang="en-IN" smtClean="0"/>
              <a:t>‹#›</a:t>
            </a:fld>
            <a:endParaRPr lang="en-IN"/>
          </a:p>
        </p:txBody>
      </p:sp>
    </p:spTree>
    <p:extLst>
      <p:ext uri="{BB962C8B-B14F-4D97-AF65-F5344CB8AC3E}">
        <p14:creationId xmlns:p14="http://schemas.microsoft.com/office/powerpoint/2010/main" val="2116399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5C88A-B265-3433-6199-81499947BB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92522D5-8F57-A1D0-0CB5-DEB23F4519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74886A1-D805-704A-20F3-8D5725017F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18ED5D-24AB-8A1E-E149-8FEF547B4BFB}"/>
              </a:ext>
            </a:extLst>
          </p:cNvPr>
          <p:cNvSpPr>
            <a:spLocks noGrp="1"/>
          </p:cNvSpPr>
          <p:nvPr>
            <p:ph type="dt" sz="half" idx="10"/>
          </p:nvPr>
        </p:nvSpPr>
        <p:spPr/>
        <p:txBody>
          <a:bodyPr/>
          <a:lstStyle/>
          <a:p>
            <a:fld id="{711BD719-7130-4A99-AC4C-06BDA9629077}" type="datetimeFigureOut">
              <a:rPr lang="en-IN" smtClean="0"/>
              <a:t>08-09-2026</a:t>
            </a:fld>
            <a:endParaRPr lang="en-IN"/>
          </a:p>
        </p:txBody>
      </p:sp>
      <p:sp>
        <p:nvSpPr>
          <p:cNvPr id="6" name="Footer Placeholder 5">
            <a:extLst>
              <a:ext uri="{FF2B5EF4-FFF2-40B4-BE49-F238E27FC236}">
                <a16:creationId xmlns:a16="http://schemas.microsoft.com/office/drawing/2014/main" id="{2AAF06B0-961B-BA01-98F3-92CDA89900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C6C696-B5D5-8F02-6906-1228ACB72878}"/>
              </a:ext>
            </a:extLst>
          </p:cNvPr>
          <p:cNvSpPr>
            <a:spLocks noGrp="1"/>
          </p:cNvSpPr>
          <p:nvPr>
            <p:ph type="sldNum" sz="quarter" idx="12"/>
          </p:nvPr>
        </p:nvSpPr>
        <p:spPr/>
        <p:txBody>
          <a:bodyPr/>
          <a:lstStyle/>
          <a:p>
            <a:fld id="{D919D2F6-B6BF-4607-98D1-C03B5CBDBAC9}" type="slidenum">
              <a:rPr lang="en-IN" smtClean="0"/>
              <a:t>‹#›</a:t>
            </a:fld>
            <a:endParaRPr lang="en-IN"/>
          </a:p>
        </p:txBody>
      </p:sp>
    </p:spTree>
    <p:extLst>
      <p:ext uri="{BB962C8B-B14F-4D97-AF65-F5344CB8AC3E}">
        <p14:creationId xmlns:p14="http://schemas.microsoft.com/office/powerpoint/2010/main" val="1303022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D357C-20F7-D9A4-0FEE-FB20AC06A9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A13853D-E597-46E4-7A94-CB7A43BD1A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53E9F8A-C2A9-43C5-54FF-1E4E27EF94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BBA2CC-5310-B030-71FE-A16212B13F98}"/>
              </a:ext>
            </a:extLst>
          </p:cNvPr>
          <p:cNvSpPr>
            <a:spLocks noGrp="1"/>
          </p:cNvSpPr>
          <p:nvPr>
            <p:ph type="dt" sz="half" idx="10"/>
          </p:nvPr>
        </p:nvSpPr>
        <p:spPr/>
        <p:txBody>
          <a:bodyPr/>
          <a:lstStyle/>
          <a:p>
            <a:fld id="{711BD719-7130-4A99-AC4C-06BDA9629077}" type="datetimeFigureOut">
              <a:rPr lang="en-IN" smtClean="0"/>
              <a:t>08-09-2026</a:t>
            </a:fld>
            <a:endParaRPr lang="en-IN"/>
          </a:p>
        </p:txBody>
      </p:sp>
      <p:sp>
        <p:nvSpPr>
          <p:cNvPr id="6" name="Footer Placeholder 5">
            <a:extLst>
              <a:ext uri="{FF2B5EF4-FFF2-40B4-BE49-F238E27FC236}">
                <a16:creationId xmlns:a16="http://schemas.microsoft.com/office/drawing/2014/main" id="{69DC5A04-BEBD-7BAE-EE15-BBA410F4BD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04AD452-1DCD-8E38-25B1-C1D90177CF37}"/>
              </a:ext>
            </a:extLst>
          </p:cNvPr>
          <p:cNvSpPr>
            <a:spLocks noGrp="1"/>
          </p:cNvSpPr>
          <p:nvPr>
            <p:ph type="sldNum" sz="quarter" idx="12"/>
          </p:nvPr>
        </p:nvSpPr>
        <p:spPr/>
        <p:txBody>
          <a:bodyPr/>
          <a:lstStyle/>
          <a:p>
            <a:fld id="{D919D2F6-B6BF-4607-98D1-C03B5CBDBAC9}" type="slidenum">
              <a:rPr lang="en-IN" smtClean="0"/>
              <a:t>‹#›</a:t>
            </a:fld>
            <a:endParaRPr lang="en-IN"/>
          </a:p>
        </p:txBody>
      </p:sp>
    </p:spTree>
    <p:extLst>
      <p:ext uri="{BB962C8B-B14F-4D97-AF65-F5344CB8AC3E}">
        <p14:creationId xmlns:p14="http://schemas.microsoft.com/office/powerpoint/2010/main" val="1930762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E3F98-2A81-0CDC-C6D9-C4A23FFA450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2288C8D-C680-DC86-A617-FA9582DF9A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4270DE-23E0-1599-3972-A840188AD3F8}"/>
              </a:ext>
            </a:extLst>
          </p:cNvPr>
          <p:cNvSpPr>
            <a:spLocks noGrp="1"/>
          </p:cNvSpPr>
          <p:nvPr>
            <p:ph type="dt" sz="half" idx="10"/>
          </p:nvPr>
        </p:nvSpPr>
        <p:spPr/>
        <p:txBody>
          <a:bodyPr/>
          <a:lstStyle/>
          <a:p>
            <a:fld id="{711BD719-7130-4A99-AC4C-06BDA9629077}" type="datetimeFigureOut">
              <a:rPr lang="en-IN" smtClean="0"/>
              <a:t>08-09-2026</a:t>
            </a:fld>
            <a:endParaRPr lang="en-IN"/>
          </a:p>
        </p:txBody>
      </p:sp>
      <p:sp>
        <p:nvSpPr>
          <p:cNvPr id="5" name="Footer Placeholder 4">
            <a:extLst>
              <a:ext uri="{FF2B5EF4-FFF2-40B4-BE49-F238E27FC236}">
                <a16:creationId xmlns:a16="http://schemas.microsoft.com/office/drawing/2014/main" id="{E017AE0D-5EC1-FE34-8CA0-2A29595CC7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3E6074-D17B-D720-2750-66DD962C1241}"/>
              </a:ext>
            </a:extLst>
          </p:cNvPr>
          <p:cNvSpPr>
            <a:spLocks noGrp="1"/>
          </p:cNvSpPr>
          <p:nvPr>
            <p:ph type="sldNum" sz="quarter" idx="12"/>
          </p:nvPr>
        </p:nvSpPr>
        <p:spPr/>
        <p:txBody>
          <a:bodyPr/>
          <a:lstStyle/>
          <a:p>
            <a:fld id="{D919D2F6-B6BF-4607-98D1-C03B5CBDBAC9}" type="slidenum">
              <a:rPr lang="en-IN" smtClean="0"/>
              <a:t>‹#›</a:t>
            </a:fld>
            <a:endParaRPr lang="en-IN"/>
          </a:p>
        </p:txBody>
      </p:sp>
    </p:spTree>
    <p:extLst>
      <p:ext uri="{BB962C8B-B14F-4D97-AF65-F5344CB8AC3E}">
        <p14:creationId xmlns:p14="http://schemas.microsoft.com/office/powerpoint/2010/main" val="3798533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CD675C-AACC-89C3-BAEA-BCEE89261C5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49B330-243A-9E1B-783B-DBB26F41F4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C9E595-D4E3-5216-AF45-26F1D0E13DAC}"/>
              </a:ext>
            </a:extLst>
          </p:cNvPr>
          <p:cNvSpPr>
            <a:spLocks noGrp="1"/>
          </p:cNvSpPr>
          <p:nvPr>
            <p:ph type="dt" sz="half" idx="10"/>
          </p:nvPr>
        </p:nvSpPr>
        <p:spPr/>
        <p:txBody>
          <a:bodyPr/>
          <a:lstStyle/>
          <a:p>
            <a:fld id="{711BD719-7130-4A99-AC4C-06BDA9629077}" type="datetimeFigureOut">
              <a:rPr lang="en-IN" smtClean="0"/>
              <a:t>08-09-2026</a:t>
            </a:fld>
            <a:endParaRPr lang="en-IN"/>
          </a:p>
        </p:txBody>
      </p:sp>
      <p:sp>
        <p:nvSpPr>
          <p:cNvPr id="5" name="Footer Placeholder 4">
            <a:extLst>
              <a:ext uri="{FF2B5EF4-FFF2-40B4-BE49-F238E27FC236}">
                <a16:creationId xmlns:a16="http://schemas.microsoft.com/office/drawing/2014/main" id="{0C1DFD9E-785F-4309-6005-252682FF8F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1E1833-ED0E-0CAC-7D7E-F9893AC18128}"/>
              </a:ext>
            </a:extLst>
          </p:cNvPr>
          <p:cNvSpPr>
            <a:spLocks noGrp="1"/>
          </p:cNvSpPr>
          <p:nvPr>
            <p:ph type="sldNum" sz="quarter" idx="12"/>
          </p:nvPr>
        </p:nvSpPr>
        <p:spPr/>
        <p:txBody>
          <a:bodyPr/>
          <a:lstStyle/>
          <a:p>
            <a:fld id="{D919D2F6-B6BF-4607-98D1-C03B5CBDBAC9}" type="slidenum">
              <a:rPr lang="en-IN" smtClean="0"/>
              <a:t>‹#›</a:t>
            </a:fld>
            <a:endParaRPr lang="en-IN"/>
          </a:p>
        </p:txBody>
      </p:sp>
    </p:spTree>
    <p:extLst>
      <p:ext uri="{BB962C8B-B14F-4D97-AF65-F5344CB8AC3E}">
        <p14:creationId xmlns:p14="http://schemas.microsoft.com/office/powerpoint/2010/main" val="1313201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156157-D454-3FC1-1974-897B7B7BCE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FB569F7-A2C9-02EF-376D-72E1BBB30E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4C18A7-DE93-7FCD-E95F-CDF48E816B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1BD719-7130-4A99-AC4C-06BDA9629077}" type="datetimeFigureOut">
              <a:rPr lang="en-IN" smtClean="0"/>
              <a:t>08-09-2026</a:t>
            </a:fld>
            <a:endParaRPr lang="en-IN"/>
          </a:p>
        </p:txBody>
      </p:sp>
      <p:sp>
        <p:nvSpPr>
          <p:cNvPr id="5" name="Footer Placeholder 4">
            <a:extLst>
              <a:ext uri="{FF2B5EF4-FFF2-40B4-BE49-F238E27FC236}">
                <a16:creationId xmlns:a16="http://schemas.microsoft.com/office/drawing/2014/main" id="{C87FE438-BBCB-ED86-E02B-0C587AA823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373DC58-526F-D970-9925-C4EC69FB43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919D2F6-B6BF-4607-98D1-C03B5CBDBAC9}" type="slidenum">
              <a:rPr lang="en-IN" smtClean="0"/>
              <a:t>‹#›</a:t>
            </a:fld>
            <a:endParaRPr lang="en-IN"/>
          </a:p>
        </p:txBody>
      </p:sp>
    </p:spTree>
    <p:extLst>
      <p:ext uri="{BB962C8B-B14F-4D97-AF65-F5344CB8AC3E}">
        <p14:creationId xmlns:p14="http://schemas.microsoft.com/office/powerpoint/2010/main" val="1335275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22F3F-8510-4EAA-C2F5-DD5CF3B4A34D}"/>
              </a:ext>
            </a:extLst>
          </p:cNvPr>
          <p:cNvSpPr>
            <a:spLocks noGrp="1"/>
          </p:cNvSpPr>
          <p:nvPr>
            <p:ph type="ctrTitle"/>
          </p:nvPr>
        </p:nvSpPr>
        <p:spPr>
          <a:xfrm>
            <a:off x="1524000" y="1920240"/>
            <a:ext cx="9144000" cy="2028635"/>
          </a:xfrm>
        </p:spPr>
        <p:txBody>
          <a:bodyPr>
            <a:normAutofit/>
          </a:bodyPr>
          <a:lstStyle/>
          <a:p>
            <a:r>
              <a:rPr lang="en-US" b="1" dirty="0"/>
              <a:t>IBM University Engagement Project Submission</a:t>
            </a:r>
            <a:endParaRPr lang="en-IN" b="1"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EAC5AF10-E02B-5D27-FE5F-B8E83C17BF3A}"/>
              </a:ext>
            </a:extLst>
          </p:cNvPr>
          <p:cNvSpPr>
            <a:spLocks noGrp="1"/>
          </p:cNvSpPr>
          <p:nvPr>
            <p:ph type="subTitle" idx="1"/>
          </p:nvPr>
        </p:nvSpPr>
        <p:spPr>
          <a:xfrm>
            <a:off x="1481328" y="4434142"/>
            <a:ext cx="9229344" cy="640778"/>
          </a:xfrm>
        </p:spPr>
        <p:txBody>
          <a:bodyPr>
            <a:normAutofit fontScale="92500"/>
          </a:bodyPr>
          <a:lstStyle/>
          <a:p>
            <a:r>
              <a:rPr lang="en-US" b="1" i="1" dirty="0">
                <a:latin typeface="Arial" panose="020B0604020202020204" pitchFamily="34" charset="0"/>
                <a:cs typeface="Arial" panose="020B0604020202020204" pitchFamily="34" charset="0"/>
              </a:rPr>
              <a:t>“Exploring the Power of Agentic AI with IBM Granite and IBM Bob”</a:t>
            </a:r>
            <a:endParaRPr lang="en-IN" i="1"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13474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oogle Shape;96;p2">
            <a:extLst>
              <a:ext uri="{FF2B5EF4-FFF2-40B4-BE49-F238E27FC236}">
                <a16:creationId xmlns:a16="http://schemas.microsoft.com/office/drawing/2014/main" id="{E57C846F-3603-83DF-4C62-3F125EFA9087}"/>
              </a:ext>
            </a:extLst>
          </p:cNvPr>
          <p:cNvGraphicFramePr/>
          <p:nvPr>
            <p:extLst>
              <p:ext uri="{D42A27DB-BD31-4B8C-83A1-F6EECF244321}">
                <p14:modId xmlns:p14="http://schemas.microsoft.com/office/powerpoint/2010/main" val="2725725866"/>
              </p:ext>
            </p:extLst>
          </p:nvPr>
        </p:nvGraphicFramePr>
        <p:xfrm>
          <a:off x="109728" y="1939382"/>
          <a:ext cx="11972543" cy="2979235"/>
        </p:xfrm>
        <a:graphic>
          <a:graphicData uri="http://schemas.openxmlformats.org/drawingml/2006/table">
            <a:tbl>
              <a:tblPr>
                <a:noFill/>
              </a:tblPr>
              <a:tblGrid>
                <a:gridCol w="2631374">
                  <a:extLst>
                    <a:ext uri="{9D8B030D-6E8A-4147-A177-3AD203B41FA5}">
                      <a16:colId xmlns:a16="http://schemas.microsoft.com/office/drawing/2014/main" val="20000"/>
                    </a:ext>
                  </a:extLst>
                </a:gridCol>
                <a:gridCol w="3113723">
                  <a:extLst>
                    <a:ext uri="{9D8B030D-6E8A-4147-A177-3AD203B41FA5}">
                      <a16:colId xmlns:a16="http://schemas.microsoft.com/office/drawing/2014/main" val="20002"/>
                    </a:ext>
                  </a:extLst>
                </a:gridCol>
                <a:gridCol w="3113723">
                  <a:extLst>
                    <a:ext uri="{9D8B030D-6E8A-4147-A177-3AD203B41FA5}">
                      <a16:colId xmlns:a16="http://schemas.microsoft.com/office/drawing/2014/main" val="20003"/>
                    </a:ext>
                  </a:extLst>
                </a:gridCol>
                <a:gridCol w="3113723">
                  <a:extLst>
                    <a:ext uri="{9D8B030D-6E8A-4147-A177-3AD203B41FA5}">
                      <a16:colId xmlns:a16="http://schemas.microsoft.com/office/drawing/2014/main" val="20004"/>
                    </a:ext>
                  </a:extLst>
                </a:gridCol>
              </a:tblGrid>
              <a:tr h="1337946">
                <a:tc>
                  <a:txBody>
                    <a:bodyPr/>
                    <a:lstStyle/>
                    <a:p>
                      <a:pPr marL="0" marR="0" lvl="0" indent="0" algn="ctr" rtl="0">
                        <a:spcBef>
                          <a:spcPts val="0"/>
                        </a:spcBef>
                        <a:spcAft>
                          <a:spcPts val="0"/>
                        </a:spcAft>
                        <a:buNone/>
                      </a:pPr>
                      <a:r>
                        <a:rPr lang="en-US" sz="2000" b="1" u="none" strike="noStrike" cap="none" dirty="0">
                          <a:latin typeface="Arial" panose="020B0604020202020204" pitchFamily="34" charset="0"/>
                          <a:cs typeface="Arial" panose="020B0604020202020204" pitchFamily="34" charset="0"/>
                        </a:rPr>
                        <a:t>Student Name</a:t>
                      </a:r>
                      <a:endParaRPr sz="2000" b="1" u="none" strike="noStrike" cap="none" dirty="0">
                        <a:latin typeface="Arial" panose="020B0604020202020204" pitchFamily="34" charset="0"/>
                        <a:cs typeface="Arial" panose="020B0604020202020204" pitchFamily="34" charset="0"/>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2000" b="1" u="none" strike="noStrike" cap="none" dirty="0">
                          <a:latin typeface="Arial" panose="020B0604020202020204" pitchFamily="34" charset="0"/>
                          <a:cs typeface="Arial" panose="020B0604020202020204" pitchFamily="34" charset="0"/>
                        </a:rPr>
                        <a:t>Recent Passport Photo</a:t>
                      </a:r>
                      <a:endParaRPr sz="2000" b="1" u="none" strike="noStrike" cap="none" dirty="0">
                        <a:latin typeface="Arial" panose="020B0604020202020204" pitchFamily="34" charset="0"/>
                        <a:cs typeface="Arial" panose="020B0604020202020204" pitchFamily="34" charset="0"/>
                      </a:endParaRPr>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2000" b="1" i="0" u="none" strike="noStrike" cap="none" dirty="0">
                          <a:solidFill>
                            <a:srgbClr val="000000"/>
                          </a:solidFill>
                          <a:latin typeface="Arial" panose="020B0604020202020204" pitchFamily="34" charset="0"/>
                          <a:ea typeface="Calibri"/>
                          <a:cs typeface="Arial" panose="020B0604020202020204" pitchFamily="34" charset="0"/>
                          <a:sym typeface="Calibri"/>
                        </a:rPr>
                        <a:t>Email ID </a:t>
                      </a:r>
                      <a:endParaRPr sz="2000" b="1" i="0" u="none" strike="noStrike" cap="none" dirty="0">
                        <a:solidFill>
                          <a:srgbClr val="000000"/>
                        </a:solidFill>
                        <a:latin typeface="Arial" panose="020B0604020202020204" pitchFamily="34" charset="0"/>
                        <a:cs typeface="Arial" panose="020B0604020202020204" pitchFamily="34" charset="0"/>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2000" b="1" i="0" u="none" strike="noStrike" cap="none" dirty="0">
                          <a:solidFill>
                            <a:srgbClr val="000000"/>
                          </a:solidFill>
                          <a:latin typeface="Arial" panose="020B0604020202020204" pitchFamily="34" charset="0"/>
                          <a:ea typeface="Calibri"/>
                          <a:cs typeface="Arial" panose="020B0604020202020204" pitchFamily="34" charset="0"/>
                          <a:sym typeface="Calibri"/>
                        </a:rPr>
                        <a:t>Mobile number</a:t>
                      </a:r>
                      <a:endParaRPr sz="2000" b="1" i="0" u="none" strike="noStrike" cap="none" dirty="0">
                        <a:solidFill>
                          <a:srgbClr val="000000"/>
                        </a:solidFill>
                        <a:latin typeface="Arial" panose="020B0604020202020204" pitchFamily="34" charset="0"/>
                        <a:cs typeface="Arial" panose="020B0604020202020204" pitchFamily="34" charset="0"/>
                        <a:sym typeface="Arial"/>
                      </a:endParaRPr>
                    </a:p>
                    <a:p>
                      <a:pPr marL="0" marR="0" lvl="0" indent="0" algn="ctr" rtl="0">
                        <a:lnSpc>
                          <a:spcPct val="100000"/>
                        </a:lnSpc>
                        <a:spcBef>
                          <a:spcPts val="0"/>
                        </a:spcBef>
                        <a:spcAft>
                          <a:spcPts val="0"/>
                        </a:spcAft>
                        <a:buClr>
                          <a:schemeClr val="lt1"/>
                        </a:buClr>
                        <a:buSzPts val="1800"/>
                        <a:buFont typeface="Calibri"/>
                        <a:buNone/>
                      </a:pPr>
                      <a:r>
                        <a:rPr lang="en-US" sz="2000" b="1" i="0" u="none" strike="noStrike" cap="none" dirty="0">
                          <a:solidFill>
                            <a:srgbClr val="000000"/>
                          </a:solidFill>
                          <a:latin typeface="Arial" panose="020B0604020202020204" pitchFamily="34" charset="0"/>
                          <a:ea typeface="Calibri"/>
                          <a:cs typeface="Arial" panose="020B0604020202020204" pitchFamily="34" charset="0"/>
                          <a:sym typeface="Calibri"/>
                        </a:rPr>
                        <a:t>[WhatsApp] </a:t>
                      </a:r>
                      <a:endParaRPr sz="2000" b="1" i="0" u="none" strike="noStrike" cap="none" dirty="0">
                        <a:solidFill>
                          <a:srgbClr val="000000"/>
                        </a:solidFill>
                        <a:latin typeface="Arial" panose="020B0604020202020204" pitchFamily="34" charset="0"/>
                        <a:cs typeface="Arial" panose="020B0604020202020204" pitchFamily="34" charset="0"/>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641289">
                <a:tc>
                  <a:txBody>
                    <a:bodyPr/>
                    <a:lstStyle/>
                    <a:p>
                      <a:pPr marL="0" marR="0" lvl="0" indent="0" algn="ctr" rtl="0">
                        <a:spcBef>
                          <a:spcPts val="0"/>
                        </a:spcBef>
                        <a:spcAft>
                          <a:spcPts val="0"/>
                        </a:spcAft>
                        <a:buNone/>
                      </a:pPr>
                      <a:endParaRPr lang="en-US" dirty="0">
                        <a:latin typeface="Arial" panose="020B0604020202020204" pitchFamily="34" charset="0"/>
                        <a:cs typeface="Arial" panose="020B0604020202020204" pitchFamily="34" charset="0"/>
                      </a:endParaRPr>
                    </a:p>
                    <a:p>
                      <a:pPr marL="0" marR="0" lvl="0" indent="0" algn="ctr" rtl="0">
                        <a:spcBef>
                          <a:spcPts val="0"/>
                        </a:spcBef>
                        <a:spcAft>
                          <a:spcPts val="0"/>
                        </a:spcAft>
                        <a:buNone/>
                      </a:pPr>
                      <a:endParaRPr lang="en-US" dirty="0">
                        <a:latin typeface="Arial" panose="020B0604020202020204" pitchFamily="34" charset="0"/>
                        <a:cs typeface="Arial" panose="020B0604020202020204" pitchFamily="34" charset="0"/>
                      </a:endParaRPr>
                    </a:p>
                    <a:p>
                      <a:pPr marL="0" marR="0" lvl="0" indent="0" algn="ctr" rtl="0">
                        <a:spcBef>
                          <a:spcPts val="0"/>
                        </a:spcBef>
                        <a:spcAft>
                          <a:spcPts val="0"/>
                        </a:spcAft>
                        <a:buNone/>
                      </a:pPr>
                      <a:r>
                        <a:rPr lang="en-US" sz="1800" dirty="0">
                          <a:latin typeface="Arial" panose="020B0604020202020204" pitchFamily="34" charset="0"/>
                          <a:cs typeface="Arial" panose="020B0604020202020204" pitchFamily="34" charset="0"/>
                        </a:rPr>
                        <a:t>Pallavi Patluri</a:t>
                      </a:r>
                      <a:endParaRPr sz="1800" dirty="0">
                        <a:latin typeface="Arial" panose="020B0604020202020204" pitchFamily="34" charset="0"/>
                        <a:cs typeface="Arial" panose="020B0604020202020204" pitchFamily="34"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sz="1800" dirty="0">
                        <a:latin typeface="Arial" panose="020B0604020202020204" pitchFamily="34" charset="0"/>
                        <a:cs typeface="Arial" panose="020B0604020202020204" pitchFamily="34" charset="0"/>
                      </a:endParaRPr>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sz="16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endParaRPr lang="en-US" sz="16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1800" dirty="0">
                          <a:latin typeface="Arial" panose="020B0604020202020204" pitchFamily="34" charset="0"/>
                          <a:cs typeface="Arial" panose="020B0604020202020204" pitchFamily="34" charset="0"/>
                        </a:rPr>
                        <a:t>pallavi16114421@gmail.com</a:t>
                      </a:r>
                      <a:endParaRPr sz="1800" dirty="0">
                        <a:latin typeface="Arial" panose="020B0604020202020204" pitchFamily="34" charset="0"/>
                        <a:cs typeface="Arial" panose="020B0604020202020204" pitchFamily="34"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US" dirty="0">
                        <a:latin typeface="Arial" panose="020B0604020202020204" pitchFamily="34" charset="0"/>
                        <a:cs typeface="Arial" panose="020B0604020202020204" pitchFamily="34" charset="0"/>
                      </a:endParaRPr>
                    </a:p>
                    <a:p>
                      <a:pPr marL="0" marR="0" lvl="0" indent="0" algn="ctr" rtl="0">
                        <a:spcBef>
                          <a:spcPts val="0"/>
                        </a:spcBef>
                        <a:spcAft>
                          <a:spcPts val="0"/>
                        </a:spcAft>
                        <a:buNone/>
                      </a:pPr>
                      <a:endParaRPr lang="en-US" dirty="0">
                        <a:latin typeface="Arial" panose="020B0604020202020204" pitchFamily="34" charset="0"/>
                        <a:cs typeface="Arial" panose="020B0604020202020204" pitchFamily="34" charset="0"/>
                      </a:endParaRPr>
                    </a:p>
                    <a:p>
                      <a:pPr marL="0" marR="0" lvl="0" indent="0" algn="ctr" rtl="0">
                        <a:spcBef>
                          <a:spcPts val="0"/>
                        </a:spcBef>
                        <a:spcAft>
                          <a:spcPts val="0"/>
                        </a:spcAft>
                        <a:buNone/>
                      </a:pPr>
                      <a:r>
                        <a:rPr lang="en-US" dirty="0">
                          <a:latin typeface="Arial" panose="020B0604020202020204" pitchFamily="34" charset="0"/>
                          <a:cs typeface="Arial" panose="020B0604020202020204" pitchFamily="34" charset="0"/>
                        </a:rPr>
                        <a:t>801398055</a:t>
                      </a:r>
                      <a:endParaRPr dirty="0">
                        <a:latin typeface="Arial" panose="020B0604020202020204" pitchFamily="34" charset="0"/>
                        <a:cs typeface="Arial" panose="020B0604020202020204" pitchFamily="34"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5" name="Picture 4">
            <a:extLst>
              <a:ext uri="{FF2B5EF4-FFF2-40B4-BE49-F238E27FC236}">
                <a16:creationId xmlns:a16="http://schemas.microsoft.com/office/drawing/2014/main" id="{7402EEC3-3E36-B027-E031-C56298AA5E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3526536" y="3553113"/>
            <a:ext cx="1560576" cy="1170432"/>
          </a:xfrm>
          <a:prstGeom prst="rect">
            <a:avLst/>
          </a:prstGeom>
        </p:spPr>
      </p:pic>
      <p:sp>
        <p:nvSpPr>
          <p:cNvPr id="6" name="TextBox 5">
            <a:extLst>
              <a:ext uri="{FF2B5EF4-FFF2-40B4-BE49-F238E27FC236}">
                <a16:creationId xmlns:a16="http://schemas.microsoft.com/office/drawing/2014/main" id="{5E134BF2-DA5C-6FA9-0B03-9D2076DD6D9C}"/>
              </a:ext>
            </a:extLst>
          </p:cNvPr>
          <p:cNvSpPr txBox="1"/>
          <p:nvPr/>
        </p:nvSpPr>
        <p:spPr>
          <a:xfrm>
            <a:off x="3433569" y="484612"/>
            <a:ext cx="5324857" cy="584775"/>
          </a:xfrm>
          <a:prstGeom prst="rect">
            <a:avLst/>
          </a:prstGeom>
          <a:noFill/>
        </p:spPr>
        <p:txBody>
          <a:bodyPr wrap="square" rtlCol="0">
            <a:spAutoFit/>
          </a:bodyPr>
          <a:lstStyle/>
          <a:p>
            <a:r>
              <a:rPr lang="en-US" sz="3200" b="1" dirty="0"/>
              <a:t>Project Tile </a:t>
            </a:r>
            <a:r>
              <a:rPr lang="en-US" sz="2800" b="1" dirty="0"/>
              <a:t>– Career Compass</a:t>
            </a:r>
            <a:endParaRPr lang="en-IN" sz="2800" b="1" dirty="0">
              <a:highlight>
                <a:srgbClr val="FFFF00"/>
              </a:highlight>
            </a:endParaRPr>
          </a:p>
        </p:txBody>
      </p:sp>
      <p:sp>
        <p:nvSpPr>
          <p:cNvPr id="7" name="TextBox 6">
            <a:extLst>
              <a:ext uri="{FF2B5EF4-FFF2-40B4-BE49-F238E27FC236}">
                <a16:creationId xmlns:a16="http://schemas.microsoft.com/office/drawing/2014/main" id="{F04F355F-FC70-006D-EF41-9A382F74EA7F}"/>
              </a:ext>
            </a:extLst>
          </p:cNvPr>
          <p:cNvSpPr txBox="1"/>
          <p:nvPr/>
        </p:nvSpPr>
        <p:spPr>
          <a:xfrm>
            <a:off x="3302123" y="1211997"/>
            <a:ext cx="5587748" cy="584775"/>
          </a:xfrm>
          <a:prstGeom prst="rect">
            <a:avLst/>
          </a:prstGeom>
          <a:noFill/>
        </p:spPr>
        <p:txBody>
          <a:bodyPr wrap="square" rtlCol="0">
            <a:spAutoFit/>
          </a:bodyPr>
          <a:lstStyle/>
          <a:p>
            <a:r>
              <a:rPr lang="en-US" sz="3200" b="1" dirty="0"/>
              <a:t>Domain of  Project </a:t>
            </a:r>
            <a:r>
              <a:rPr lang="en-US" sz="2800" b="1" dirty="0"/>
              <a:t>– Education</a:t>
            </a:r>
            <a:endParaRPr lang="en-IN" sz="2800" b="1" dirty="0">
              <a:highlight>
                <a:srgbClr val="FFFF00"/>
              </a:highlight>
            </a:endParaRPr>
          </a:p>
        </p:txBody>
      </p:sp>
    </p:spTree>
    <p:extLst>
      <p:ext uri="{BB962C8B-B14F-4D97-AF65-F5344CB8AC3E}">
        <p14:creationId xmlns:p14="http://schemas.microsoft.com/office/powerpoint/2010/main" val="3177341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F1C48D-6FB2-BC62-82C9-6B8AF5531D6F}"/>
              </a:ext>
            </a:extLst>
          </p:cNvPr>
          <p:cNvSpPr txBox="1"/>
          <p:nvPr/>
        </p:nvSpPr>
        <p:spPr>
          <a:xfrm>
            <a:off x="1259305" y="1959777"/>
            <a:ext cx="9673389" cy="4093428"/>
          </a:xfrm>
          <a:prstGeom prst="rect">
            <a:avLst/>
          </a:prstGeom>
          <a:noFill/>
        </p:spPr>
        <p:txBody>
          <a:bodyPr wrap="square" rtlCol="0">
            <a:spAutoFit/>
          </a:bodyPr>
          <a:lstStyle/>
          <a:p>
            <a:pPr fontAlgn="base"/>
            <a:r>
              <a:rPr lang="en-US" sz="2000" b="1" dirty="0">
                <a:latin typeface="Arial" panose="020B0604020202020204" pitchFamily="34" charset="0"/>
                <a:cs typeface="Arial" panose="020B0604020202020204" pitchFamily="34" charset="0"/>
              </a:rPr>
              <a:t>Problem Statement – Agentic Career Counseling Companion </a:t>
            </a:r>
          </a:p>
          <a:p>
            <a:pPr fontAlgn="base"/>
            <a:endParaRPr lang="en-US" sz="2000" b="1" dirty="0">
              <a:latin typeface="Arial" panose="020B0604020202020204" pitchFamily="34" charset="0"/>
              <a:cs typeface="Arial" panose="020B0604020202020204" pitchFamily="34" charset="0"/>
            </a:endParaRPr>
          </a:p>
          <a:p>
            <a:pPr fontAlgn="base"/>
            <a:r>
              <a:rPr lang="en-US" sz="2000" b="1" dirty="0">
                <a:latin typeface="Arial" panose="020B0604020202020204" pitchFamily="34" charset="0"/>
                <a:cs typeface="Arial" panose="020B0604020202020204" pitchFamily="34" charset="0"/>
              </a:rPr>
              <a:t>The Challenge </a:t>
            </a:r>
            <a:r>
              <a:rPr lang="en-US" sz="2000" dirty="0">
                <a:latin typeface="Arial" panose="020B0604020202020204" pitchFamily="34" charset="0"/>
                <a:cs typeface="Arial" panose="020B0604020202020204" pitchFamily="34" charset="0"/>
              </a:rPr>
              <a:t>– Students often struggle to make informed career decisions due to fragmented access to guidance, limited self-awareness of academic strengths, and rapidly evolving industry landscapes. Traditional counseling methods lack personalization and scalability, leading to missed opportunities and career mismatches. The challenge is to develop an intelligent, autonomous agent that continuously monitors student performance, evolving interests, and real-time labor market trends to deliver tailored career pathway suggestions. This would empower students to make confident, future-ready decisions with minimal dependency on manual intervention. </a:t>
            </a:r>
          </a:p>
          <a:p>
            <a:pPr fontAlgn="base"/>
            <a:endParaRPr lang="en-US" sz="2000" dirty="0">
              <a:latin typeface="Arial" panose="020B0604020202020204" pitchFamily="34" charset="0"/>
              <a:cs typeface="Arial" panose="020B0604020202020204" pitchFamily="34" charset="0"/>
            </a:endParaRPr>
          </a:p>
          <a:p>
            <a:pPr fontAlgn="base"/>
            <a:r>
              <a:rPr lang="en-US" sz="2000" b="1" dirty="0">
                <a:latin typeface="Arial" panose="020B0604020202020204" pitchFamily="34" charset="0"/>
                <a:cs typeface="Arial" panose="020B0604020202020204" pitchFamily="34" charset="0"/>
              </a:rPr>
              <a:t>Technology</a:t>
            </a:r>
            <a:r>
              <a:rPr lang="en-US" sz="2000" dirty="0">
                <a:latin typeface="Arial" panose="020B0604020202020204" pitchFamily="34" charset="0"/>
                <a:cs typeface="Arial" panose="020B0604020202020204" pitchFamily="34" charset="0"/>
              </a:rPr>
              <a:t> – Use of IBM Cloud Lite services / IBM Granite is mandatory. </a:t>
            </a:r>
          </a:p>
        </p:txBody>
      </p:sp>
      <p:sp>
        <p:nvSpPr>
          <p:cNvPr id="7" name="TextBox 6">
            <a:extLst>
              <a:ext uri="{FF2B5EF4-FFF2-40B4-BE49-F238E27FC236}">
                <a16:creationId xmlns:a16="http://schemas.microsoft.com/office/drawing/2014/main" id="{07C0974B-83FD-9D58-A2EC-023772EB3C10}"/>
              </a:ext>
            </a:extLst>
          </p:cNvPr>
          <p:cNvSpPr txBox="1"/>
          <p:nvPr/>
        </p:nvSpPr>
        <p:spPr>
          <a:xfrm>
            <a:off x="3047999" y="804795"/>
            <a:ext cx="6096000" cy="523220"/>
          </a:xfrm>
          <a:prstGeom prst="rect">
            <a:avLst/>
          </a:prstGeom>
          <a:noFill/>
        </p:spPr>
        <p:txBody>
          <a:bodyPr wrap="square">
            <a:spAutoFit/>
          </a:bodyPr>
          <a:lstStyle/>
          <a:p>
            <a:pPr algn="ctr"/>
            <a:r>
              <a:rPr lang="en-IN" sz="2800" b="1" dirty="0">
                <a:latin typeface="Arial" panose="020B0604020202020204" pitchFamily="34" charset="0"/>
                <a:cs typeface="Arial" panose="020B0604020202020204" pitchFamily="34" charset="0"/>
              </a:rPr>
              <a:t>Problem Statement </a:t>
            </a:r>
          </a:p>
        </p:txBody>
      </p:sp>
    </p:spTree>
    <p:extLst>
      <p:ext uri="{BB962C8B-B14F-4D97-AF65-F5344CB8AC3E}">
        <p14:creationId xmlns:p14="http://schemas.microsoft.com/office/powerpoint/2010/main" val="2050309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77CB0C-1926-FEC3-7CC9-41583A59BAF7}"/>
              </a:ext>
            </a:extLst>
          </p:cNvPr>
          <p:cNvSpPr txBox="1"/>
          <p:nvPr/>
        </p:nvSpPr>
        <p:spPr>
          <a:xfrm>
            <a:off x="728151" y="1312244"/>
            <a:ext cx="10735698" cy="5016758"/>
          </a:xfrm>
          <a:prstGeom prst="rect">
            <a:avLst/>
          </a:prstGeom>
          <a:noFill/>
        </p:spPr>
        <p:txBody>
          <a:bodyPr wrap="square" rtlCol="0">
            <a:spAutoFit/>
          </a:bodyPr>
          <a:lstStyle/>
          <a:p>
            <a:r>
              <a:rPr lang="en-IN" sz="2000" dirty="0">
                <a:latin typeface="Arial" panose="020B0604020202020204" pitchFamily="34" charset="0"/>
                <a:cs typeface="Arial" panose="020B0604020202020204" pitchFamily="34" charset="0"/>
              </a:rPr>
              <a:t>Career Compass is an </a:t>
            </a:r>
            <a:r>
              <a:rPr lang="en-IN" sz="2000" b="1" dirty="0">
                <a:latin typeface="Arial" panose="020B0604020202020204" pitchFamily="34" charset="0"/>
                <a:cs typeface="Arial" panose="020B0604020202020204" pitchFamily="34" charset="0"/>
              </a:rPr>
              <a:t>agentic career </a:t>
            </a:r>
            <a:r>
              <a:rPr lang="en-IN" sz="2000" b="1" dirty="0" err="1">
                <a:latin typeface="Arial" panose="020B0604020202020204" pitchFamily="34" charset="0"/>
                <a:cs typeface="Arial" panose="020B0604020202020204" pitchFamily="34" charset="0"/>
              </a:rPr>
              <a:t>counseling</a:t>
            </a:r>
            <a:r>
              <a:rPr lang="en-IN" sz="2000" b="1" dirty="0">
                <a:latin typeface="Arial" panose="020B0604020202020204" pitchFamily="34" charset="0"/>
                <a:cs typeface="Arial" panose="020B0604020202020204" pitchFamily="34" charset="0"/>
              </a:rPr>
              <a:t> companion</a:t>
            </a:r>
            <a:r>
              <a:rPr lang="en-IN" sz="2000" dirty="0">
                <a:latin typeface="Arial" panose="020B0604020202020204" pitchFamily="34" charset="0"/>
                <a:cs typeface="Arial" panose="020B0604020202020204" pitchFamily="34" charset="0"/>
              </a:rPr>
              <a:t> designed to provide personalized, actionable career guidance to students.</a:t>
            </a:r>
          </a:p>
          <a:p>
            <a:r>
              <a:rPr lang="en-IN" sz="2000" dirty="0">
                <a:latin typeface="Arial" panose="020B0604020202020204" pitchFamily="34" charset="0"/>
                <a:cs typeface="Arial" panose="020B0604020202020204" pitchFamily="34" charset="0"/>
              </a:rPr>
              <a:t>The system </a:t>
            </a:r>
            <a:r>
              <a:rPr lang="en-IN" sz="2000" dirty="0" err="1">
                <a:latin typeface="Arial" panose="020B0604020202020204" pitchFamily="34" charset="0"/>
                <a:cs typeface="Arial" panose="020B0604020202020204" pitchFamily="34" charset="0"/>
              </a:rPr>
              <a:t>analyzes</a:t>
            </a:r>
            <a:r>
              <a:rPr lang="en-IN" sz="2000" dirty="0">
                <a:latin typeface="Arial" panose="020B0604020202020204" pitchFamily="34" charset="0"/>
                <a:cs typeface="Arial" panose="020B0604020202020204" pitchFamily="34" charset="0"/>
              </a:rPr>
              <a:t> </a:t>
            </a:r>
            <a:r>
              <a:rPr lang="en-IN" sz="2000" b="1" dirty="0">
                <a:latin typeface="Arial" panose="020B0604020202020204" pitchFamily="34" charset="0"/>
                <a:cs typeface="Arial" panose="020B0604020202020204" pitchFamily="34" charset="0"/>
              </a:rPr>
              <a:t>academic performance, skills, interests, projects, and career goals</a:t>
            </a:r>
            <a:r>
              <a:rPr lang="en-IN" sz="2000" dirty="0">
                <a:latin typeface="Arial" panose="020B0604020202020204" pitchFamily="34" charset="0"/>
                <a:cs typeface="Arial" panose="020B0604020202020204" pitchFamily="34" charset="0"/>
              </a:rPr>
              <a:t> to identify suitable career pathways.</a:t>
            </a:r>
          </a:p>
          <a:p>
            <a:r>
              <a:rPr lang="en-IN" sz="2000" dirty="0">
                <a:latin typeface="Arial" panose="020B0604020202020204" pitchFamily="34" charset="0"/>
                <a:cs typeface="Arial" panose="020B0604020202020204" pitchFamily="34" charset="0"/>
              </a:rPr>
              <a:t>It provides:</a:t>
            </a:r>
          </a:p>
          <a:p>
            <a:pPr lvl="0"/>
            <a:r>
              <a:rPr lang="en-IN" sz="2000" b="1" dirty="0">
                <a:latin typeface="Arial" panose="020B0604020202020204" pitchFamily="34" charset="0"/>
                <a:cs typeface="Arial" panose="020B0604020202020204" pitchFamily="34" charset="0"/>
              </a:rPr>
              <a:t>Personalized Career Recommendations</a:t>
            </a:r>
            <a:r>
              <a:rPr lang="en-IN" sz="2000" dirty="0">
                <a:latin typeface="Arial" panose="020B0604020202020204" pitchFamily="34" charset="0"/>
                <a:cs typeface="Arial" panose="020B0604020202020204" pitchFamily="34" charset="0"/>
              </a:rPr>
              <a:t> </a:t>
            </a:r>
          </a:p>
          <a:p>
            <a:pPr lvl="0"/>
            <a:r>
              <a:rPr lang="en-IN" sz="2000" b="1" dirty="0">
                <a:latin typeface="Arial" panose="020B0604020202020204" pitchFamily="34" charset="0"/>
                <a:cs typeface="Arial" panose="020B0604020202020204" pitchFamily="34" charset="0"/>
              </a:rPr>
              <a:t>Skill-Gap Analysis</a:t>
            </a:r>
            <a:r>
              <a:rPr lang="en-IN" sz="2000" dirty="0">
                <a:latin typeface="Arial" panose="020B0604020202020204" pitchFamily="34" charset="0"/>
                <a:cs typeface="Arial" panose="020B0604020202020204" pitchFamily="34" charset="0"/>
              </a:rPr>
              <a:t> </a:t>
            </a:r>
          </a:p>
          <a:p>
            <a:pPr lvl="0"/>
            <a:r>
              <a:rPr lang="en-IN" sz="2000" b="1" dirty="0">
                <a:latin typeface="Arial" panose="020B0604020202020204" pitchFamily="34" charset="0"/>
                <a:cs typeface="Arial" panose="020B0604020202020204" pitchFamily="34" charset="0"/>
              </a:rPr>
              <a:t>Learning Roadmaps</a:t>
            </a:r>
            <a:r>
              <a:rPr lang="en-IN" sz="2000" dirty="0">
                <a:latin typeface="Arial" panose="020B0604020202020204" pitchFamily="34" charset="0"/>
                <a:cs typeface="Arial" panose="020B0604020202020204" pitchFamily="34" charset="0"/>
              </a:rPr>
              <a:t> </a:t>
            </a:r>
          </a:p>
          <a:p>
            <a:pPr lvl="0"/>
            <a:r>
              <a:rPr lang="en-IN" sz="2000" b="1" dirty="0">
                <a:latin typeface="Arial" panose="020B0604020202020204" pitchFamily="34" charset="0"/>
                <a:cs typeface="Arial" panose="020B0604020202020204" pitchFamily="34" charset="0"/>
              </a:rPr>
              <a:t>Project Recommendations</a:t>
            </a:r>
            <a:r>
              <a:rPr lang="en-IN" sz="2000" dirty="0">
                <a:latin typeface="Arial" panose="020B0604020202020204" pitchFamily="34" charset="0"/>
                <a:cs typeface="Arial" panose="020B0604020202020204" pitchFamily="34" charset="0"/>
              </a:rPr>
              <a:t> </a:t>
            </a:r>
          </a:p>
          <a:p>
            <a:pPr lvl="0"/>
            <a:r>
              <a:rPr lang="en-IN" sz="2000" b="1" dirty="0">
                <a:latin typeface="Arial" panose="020B0604020202020204" pitchFamily="34" charset="0"/>
                <a:cs typeface="Arial" panose="020B0604020202020204" pitchFamily="34" charset="0"/>
              </a:rPr>
              <a:t>Career Readiness Assessment</a:t>
            </a:r>
            <a:r>
              <a:rPr lang="en-IN" sz="2000" dirty="0">
                <a:latin typeface="Arial" panose="020B0604020202020204" pitchFamily="34" charset="0"/>
                <a:cs typeface="Arial" panose="020B0604020202020204" pitchFamily="34" charset="0"/>
              </a:rPr>
              <a:t> </a:t>
            </a:r>
          </a:p>
          <a:p>
            <a:pPr lvl="0"/>
            <a:r>
              <a:rPr lang="en-IN" sz="2000" b="1" dirty="0">
                <a:latin typeface="Arial" panose="020B0604020202020204" pitchFamily="34" charset="0"/>
                <a:cs typeface="Arial" panose="020B0604020202020204" pitchFamily="34" charset="0"/>
              </a:rPr>
              <a:t>Conversational &amp; Context-Aware Guidance</a:t>
            </a:r>
            <a:r>
              <a:rPr lang="en-IN" sz="2000" dirty="0">
                <a:latin typeface="Arial" panose="020B0604020202020204" pitchFamily="34" charset="0"/>
                <a:cs typeface="Arial" panose="020B0604020202020204" pitchFamily="34" charset="0"/>
              </a:rPr>
              <a:t> </a:t>
            </a:r>
          </a:p>
          <a:p>
            <a:r>
              <a:rPr lang="en-IN" sz="2000" dirty="0">
                <a:latin typeface="Arial" panose="020B0604020202020204" pitchFamily="34" charset="0"/>
                <a:cs typeface="Arial" panose="020B0604020202020204" pitchFamily="34" charset="0"/>
              </a:rPr>
              <a:t>The agent continuously uses the student's profile and career requirements to generate </a:t>
            </a:r>
            <a:r>
              <a:rPr lang="en-IN" sz="2000" b="1" dirty="0">
                <a:latin typeface="Arial" panose="020B0604020202020204" pitchFamily="34" charset="0"/>
                <a:cs typeface="Arial" panose="020B0604020202020204" pitchFamily="34" charset="0"/>
              </a:rPr>
              <a:t>relevant next steps</a:t>
            </a:r>
            <a:r>
              <a:rPr lang="en-IN" sz="2000" dirty="0">
                <a:latin typeface="Arial" panose="020B0604020202020204" pitchFamily="34" charset="0"/>
                <a:cs typeface="Arial" panose="020B0604020202020204" pitchFamily="34" charset="0"/>
              </a:rPr>
              <a:t>, helping students move from </a:t>
            </a:r>
            <a:r>
              <a:rPr lang="en-IN" sz="2000" b="1" dirty="0">
                <a:latin typeface="Arial" panose="020B0604020202020204" pitchFamily="34" charset="0"/>
                <a:cs typeface="Arial" panose="020B0604020202020204" pitchFamily="34" charset="0"/>
              </a:rPr>
              <a:t>career confusion to a clear, future-ready career pathway</a:t>
            </a:r>
            <a:r>
              <a:rPr lang="en-IN" sz="2000" dirty="0">
                <a:latin typeface="Arial" panose="020B0604020202020204" pitchFamily="34" charset="0"/>
                <a:cs typeface="Arial" panose="020B0604020202020204" pitchFamily="34" charset="0"/>
              </a:rPr>
              <a:t>.</a:t>
            </a:r>
          </a:p>
          <a:p>
            <a:r>
              <a:rPr lang="en-IN" sz="2000" b="1" dirty="0">
                <a:latin typeface="Arial" panose="020B0604020202020204" pitchFamily="34" charset="0"/>
                <a:cs typeface="Arial" panose="020B0604020202020204" pitchFamily="34" charset="0"/>
              </a:rPr>
              <a:t>IBM Technology</a:t>
            </a:r>
          </a:p>
          <a:p>
            <a:r>
              <a:rPr lang="en-IN" sz="2000" b="1" dirty="0">
                <a:latin typeface="Arial" panose="020B0604020202020204" pitchFamily="34" charset="0"/>
                <a:cs typeface="Arial" panose="020B0604020202020204" pitchFamily="34" charset="0"/>
              </a:rPr>
              <a:t>IBM Granite + IBM Cloud Lite</a:t>
            </a:r>
            <a:endParaRPr lang="en-IN"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3839F13-0F4C-6B25-0086-A534E7E4D9BA}"/>
              </a:ext>
            </a:extLst>
          </p:cNvPr>
          <p:cNvSpPr txBox="1"/>
          <p:nvPr/>
        </p:nvSpPr>
        <p:spPr>
          <a:xfrm>
            <a:off x="3599688" y="528998"/>
            <a:ext cx="4992624"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Proposed Solution </a:t>
            </a:r>
            <a:endParaRPr lang="en-IN"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93451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2E14C9-68C3-1C9C-26A9-C2B9709C1A0B}"/>
              </a:ext>
            </a:extLst>
          </p:cNvPr>
          <p:cNvSpPr txBox="1"/>
          <p:nvPr/>
        </p:nvSpPr>
        <p:spPr>
          <a:xfrm>
            <a:off x="976122" y="1447204"/>
            <a:ext cx="10239756" cy="4770537"/>
          </a:xfrm>
          <a:prstGeom prst="rect">
            <a:avLst/>
          </a:prstGeom>
          <a:noFill/>
        </p:spPr>
        <p:txBody>
          <a:bodyPr wrap="square" rtlCol="0">
            <a:spAutoFit/>
          </a:bodyPr>
          <a:lstStyle/>
          <a:p>
            <a:pPr marL="342900" indent="-342900">
              <a:buFont typeface="Wingdings" panose="05000000000000000000" pitchFamily="2" charset="2"/>
              <a:buChar char="v"/>
            </a:pPr>
            <a:r>
              <a:rPr lang="en-IN" sz="2000" b="1" dirty="0">
                <a:latin typeface="Arial" panose="020B0604020202020204" pitchFamily="34" charset="0"/>
                <a:cs typeface="Arial" panose="020B0604020202020204" pitchFamily="34" charset="0"/>
              </a:rPr>
              <a:t>IBM Granite</a:t>
            </a:r>
            <a:r>
              <a:rPr lang="en-IN" sz="2000" dirty="0">
                <a:latin typeface="Arial" panose="020B0604020202020204" pitchFamily="34" charset="0"/>
                <a:cs typeface="Arial" panose="020B0604020202020204" pitchFamily="34" charset="0"/>
              </a:rPr>
              <a:t> – Large Language Model used for natural language understanding, reasoning, and personalized career guidance.</a:t>
            </a:r>
          </a:p>
          <a:p>
            <a:pPr marL="342900" indent="-342900">
              <a:buFont typeface="Wingdings" panose="05000000000000000000" pitchFamily="2" charset="2"/>
              <a:buChar char="v"/>
            </a:pPr>
            <a:r>
              <a:rPr lang="en-IN" sz="2000" b="1" dirty="0">
                <a:latin typeface="Arial" panose="020B0604020202020204" pitchFamily="34" charset="0"/>
                <a:cs typeface="Arial" panose="020B0604020202020204" pitchFamily="34" charset="0"/>
              </a:rPr>
              <a:t>IBM Cloud Lite</a:t>
            </a:r>
            <a:r>
              <a:rPr lang="en-IN" sz="2000" dirty="0">
                <a:latin typeface="Arial" panose="020B0604020202020204" pitchFamily="34" charset="0"/>
                <a:cs typeface="Arial" panose="020B0604020202020204" pitchFamily="34" charset="0"/>
              </a:rPr>
              <a:t> – Cloud platform used to support the development and deployment of the Career Compass solution.</a:t>
            </a:r>
          </a:p>
          <a:p>
            <a:pPr marL="342900" indent="-342900">
              <a:buFont typeface="Wingdings" panose="05000000000000000000" pitchFamily="2" charset="2"/>
              <a:buChar char="v"/>
            </a:pPr>
            <a:r>
              <a:rPr lang="en-IN" sz="2000" b="1" dirty="0">
                <a:latin typeface="Arial" panose="020B0604020202020204" pitchFamily="34" charset="0"/>
                <a:cs typeface="Arial" panose="020B0604020202020204" pitchFamily="34" charset="0"/>
              </a:rPr>
              <a:t>IBM Bob</a:t>
            </a:r>
            <a:r>
              <a:rPr lang="en-IN" sz="2000" dirty="0">
                <a:latin typeface="Arial" panose="020B0604020202020204" pitchFamily="34" charset="0"/>
                <a:cs typeface="Arial" panose="020B0604020202020204" pitchFamily="34" charset="0"/>
              </a:rPr>
              <a:t> – AI-powered development assistant used to accelerate application development and implementation.</a:t>
            </a:r>
          </a:p>
          <a:p>
            <a:pPr marL="342900" indent="-342900">
              <a:buFont typeface="Wingdings" panose="05000000000000000000" pitchFamily="2" charset="2"/>
              <a:buChar char="v"/>
            </a:pPr>
            <a:r>
              <a:rPr lang="en-IN" sz="2000" b="1" dirty="0">
                <a:latin typeface="Arial" panose="020B0604020202020204" pitchFamily="34" charset="0"/>
                <a:cs typeface="Arial" panose="020B0604020202020204" pitchFamily="34" charset="0"/>
              </a:rPr>
              <a:t>RAG (Retrieval-Augmented Generation)</a:t>
            </a:r>
            <a:r>
              <a:rPr lang="en-IN" sz="2000" dirty="0">
                <a:latin typeface="Arial" panose="020B0604020202020204" pitchFamily="34" charset="0"/>
                <a:cs typeface="Arial" panose="020B0604020202020204" pitchFamily="34" charset="0"/>
              </a:rPr>
              <a:t> – Used to ground career recommendations using relevant information from the Career Compass knowledge base.</a:t>
            </a:r>
          </a:p>
          <a:p>
            <a:pPr marL="342900" indent="-342900">
              <a:buFont typeface="Wingdings" panose="05000000000000000000" pitchFamily="2" charset="2"/>
              <a:buChar char="v"/>
            </a:pPr>
            <a:r>
              <a:rPr lang="en-IN" sz="2000" b="1" dirty="0">
                <a:latin typeface="Arial" panose="020B0604020202020204" pitchFamily="34" charset="0"/>
                <a:cs typeface="Arial" panose="020B0604020202020204" pitchFamily="34" charset="0"/>
              </a:rPr>
              <a:t>watsonx.ai</a:t>
            </a:r>
            <a:r>
              <a:rPr lang="en-IN" sz="2000" dirty="0">
                <a:latin typeface="Arial" panose="020B0604020202020204" pitchFamily="34" charset="0"/>
                <a:cs typeface="Arial" panose="020B0604020202020204" pitchFamily="34" charset="0"/>
              </a:rPr>
              <a:t> – IBM AI platform used for working with foundation models and AI-powered application development.</a:t>
            </a:r>
          </a:p>
          <a:p>
            <a:pPr marL="342900" indent="-342900">
              <a:buFont typeface="Wingdings" panose="05000000000000000000" pitchFamily="2" charset="2"/>
              <a:buChar char="v"/>
            </a:pPr>
            <a:r>
              <a:rPr lang="en-IN" sz="2000" b="1" dirty="0">
                <a:latin typeface="Arial" panose="020B0604020202020204" pitchFamily="34" charset="0"/>
                <a:cs typeface="Arial" panose="020B0604020202020204" pitchFamily="34" charset="0"/>
              </a:rPr>
              <a:t>Vector Database</a:t>
            </a:r>
            <a:r>
              <a:rPr lang="en-IN" sz="2000" dirty="0">
                <a:latin typeface="Arial" panose="020B0604020202020204" pitchFamily="34" charset="0"/>
                <a:cs typeface="Arial" panose="020B0604020202020204" pitchFamily="34" charset="0"/>
              </a:rPr>
              <a:t> – Used to store and retrieve career, skill, and learning information efficiently for contextual recommendations.</a:t>
            </a:r>
          </a:p>
          <a:p>
            <a:pPr marL="342900" indent="-342900">
              <a:buFont typeface="Wingdings" panose="05000000000000000000" pitchFamily="2" charset="2"/>
              <a:buChar char="v"/>
            </a:pPr>
            <a:r>
              <a:rPr lang="en-IN" sz="2000" b="1" dirty="0">
                <a:latin typeface="Arial" panose="020B0604020202020204" pitchFamily="34" charset="0"/>
                <a:cs typeface="Arial" panose="020B0604020202020204" pitchFamily="34" charset="0"/>
              </a:rPr>
              <a:t>Python &amp; Flask</a:t>
            </a:r>
            <a:r>
              <a:rPr lang="en-IN" sz="2000" dirty="0">
                <a:latin typeface="Arial" panose="020B0604020202020204" pitchFamily="34" charset="0"/>
                <a:cs typeface="Arial" panose="020B0604020202020204" pitchFamily="34" charset="0"/>
              </a:rPr>
              <a:t> – Used for backend development, agent logic, API handling, and communication between the frontend and the career guidance engine.</a:t>
            </a:r>
          </a:p>
          <a:p>
            <a:pPr marL="342900" indent="-342900">
              <a:buFont typeface="Wingdings" panose="05000000000000000000" pitchFamily="2" charset="2"/>
              <a:buChar char="v"/>
            </a:pPr>
            <a:r>
              <a:rPr lang="en-IN" sz="2000" b="1" dirty="0">
                <a:latin typeface="Arial" panose="020B0604020202020204" pitchFamily="34" charset="0"/>
                <a:cs typeface="Arial" panose="020B0604020202020204" pitchFamily="34" charset="0"/>
              </a:rPr>
              <a:t>HTML, CSS &amp; JavaScript</a:t>
            </a:r>
            <a:r>
              <a:rPr lang="en-IN" sz="2000" dirty="0">
                <a:latin typeface="Arial" panose="020B0604020202020204" pitchFamily="34" charset="0"/>
                <a:cs typeface="Arial" panose="020B0604020202020204" pitchFamily="34" charset="0"/>
              </a:rPr>
              <a:t> – Used to create the interactive Career Compass frontend</a:t>
            </a:r>
            <a:r>
              <a:rPr lang="en-IN" sz="2400" dirty="0">
                <a:latin typeface="Arial" panose="020B0604020202020204" pitchFamily="34" charset="0"/>
                <a:cs typeface="Arial" panose="020B0604020202020204" pitchFamily="34" charset="0"/>
              </a:rPr>
              <a:t>.</a:t>
            </a:r>
            <a:endParaRPr lang="en-IN" sz="20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4317EC36-3716-B9F1-1EAB-D4BF0268DEE2}"/>
              </a:ext>
            </a:extLst>
          </p:cNvPr>
          <p:cNvSpPr txBox="1"/>
          <p:nvPr/>
        </p:nvSpPr>
        <p:spPr>
          <a:xfrm>
            <a:off x="3636264" y="640259"/>
            <a:ext cx="4919472"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Technology Used</a:t>
            </a:r>
            <a:endParaRPr lang="en-IN"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73050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673C85-4E43-239B-EC18-78F3ABFBDDFB}"/>
              </a:ext>
            </a:extLst>
          </p:cNvPr>
          <p:cNvSpPr txBox="1"/>
          <p:nvPr/>
        </p:nvSpPr>
        <p:spPr>
          <a:xfrm>
            <a:off x="2804160" y="822722"/>
            <a:ext cx="6583680"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sym typeface="Times New Roman"/>
              </a:rPr>
              <a:t>Required Files created using IBM bob</a:t>
            </a:r>
            <a:endParaRPr lang="en-IN" sz="2800"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AA126729-43B8-8F1E-AA2F-3F9DCFDEA2FA}"/>
              </a:ext>
            </a:extLst>
          </p:cNvPr>
          <p:cNvSpPr txBox="1"/>
          <p:nvPr/>
        </p:nvSpPr>
        <p:spPr>
          <a:xfrm>
            <a:off x="1418844" y="1941850"/>
            <a:ext cx="9354312" cy="4093428"/>
          </a:xfrm>
          <a:prstGeom prst="rect">
            <a:avLst/>
          </a:prstGeom>
          <a:noFill/>
        </p:spPr>
        <p:txBody>
          <a:bodyPr wrap="square" rtlCol="0">
            <a:spAutoFit/>
          </a:bodyPr>
          <a:lstStyle/>
          <a:p>
            <a:r>
              <a:rPr lang="en-IN" sz="2000" b="1" dirty="0"/>
              <a:t>Frontend:</a:t>
            </a:r>
            <a:r>
              <a:rPr lang="en-IN" sz="2000" dirty="0"/>
              <a:t> HTML, CSS, JavaScript</a:t>
            </a:r>
            <a:br>
              <a:rPr lang="en-IN" sz="2000" dirty="0"/>
            </a:br>
            <a:endParaRPr lang="en-IN" sz="2000" dirty="0"/>
          </a:p>
          <a:p>
            <a:r>
              <a:rPr lang="en-IN" sz="2000" b="1" dirty="0"/>
              <a:t>Backend:</a:t>
            </a:r>
            <a:r>
              <a:rPr lang="en-IN" sz="2000" dirty="0"/>
              <a:t> Python, Flask</a:t>
            </a:r>
            <a:br>
              <a:rPr lang="en-IN" sz="2000" dirty="0"/>
            </a:br>
            <a:endParaRPr lang="en-IN" sz="2000" dirty="0"/>
          </a:p>
          <a:p>
            <a:r>
              <a:rPr lang="en-IN" sz="2000" b="1" dirty="0"/>
              <a:t>Agent:</a:t>
            </a:r>
            <a:r>
              <a:rPr lang="en-IN" sz="2000" dirty="0"/>
              <a:t> </a:t>
            </a:r>
            <a:r>
              <a:rPr lang="en-IN" dirty="0"/>
              <a:t>agent.py</a:t>
            </a:r>
            <a:r>
              <a:rPr lang="en-IN" sz="2000" dirty="0"/>
              <a:t>, </a:t>
            </a:r>
            <a:r>
              <a:rPr lang="en-IN" dirty="0"/>
              <a:t>companion_agent.py</a:t>
            </a:r>
            <a:r>
              <a:rPr lang="en-IN" sz="2000" dirty="0"/>
              <a:t>, </a:t>
            </a:r>
            <a:r>
              <a:rPr lang="en-IN" dirty="0"/>
              <a:t>planner.py</a:t>
            </a:r>
            <a:r>
              <a:rPr lang="en-IN" sz="2000" dirty="0"/>
              <a:t>, </a:t>
            </a:r>
            <a:r>
              <a:rPr lang="en-IN" dirty="0"/>
              <a:t>memory.py</a:t>
            </a:r>
            <a:br>
              <a:rPr lang="en-IN" sz="2000" dirty="0"/>
            </a:br>
            <a:endParaRPr lang="en-IN" sz="2000" dirty="0"/>
          </a:p>
          <a:p>
            <a:r>
              <a:rPr lang="en-IN" sz="2000" b="1" dirty="0"/>
              <a:t>Specialized Tools:</a:t>
            </a:r>
            <a:r>
              <a:rPr lang="en-IN" sz="2000" dirty="0"/>
              <a:t> Career, Skill, Roadmap, Learning, Project &amp; Market Tools</a:t>
            </a:r>
            <a:br>
              <a:rPr lang="en-IN" sz="2000" dirty="0"/>
            </a:br>
            <a:endParaRPr lang="en-IN" sz="2000" dirty="0"/>
          </a:p>
          <a:p>
            <a:r>
              <a:rPr lang="en-IN" sz="2000" b="1" dirty="0"/>
              <a:t>Knowledge Base:</a:t>
            </a:r>
            <a:r>
              <a:rPr lang="en-IN" sz="2000" dirty="0"/>
              <a:t> Career Roles, Skills, Learning Resources &amp; Job Market JSON files</a:t>
            </a:r>
            <a:br>
              <a:rPr lang="en-IN" sz="2000" dirty="0"/>
            </a:br>
            <a:endParaRPr lang="en-IN" sz="2000" dirty="0"/>
          </a:p>
          <a:p>
            <a:r>
              <a:rPr lang="en-IN" sz="2000" b="1" dirty="0"/>
              <a:t>Data:</a:t>
            </a:r>
            <a:r>
              <a:rPr lang="en-IN" sz="2000" dirty="0"/>
              <a:t> Sample Student Profiles</a:t>
            </a:r>
            <a:br>
              <a:rPr lang="en-IN" sz="2000" dirty="0"/>
            </a:br>
            <a:endParaRPr lang="en-IN" sz="2000" dirty="0"/>
          </a:p>
          <a:p>
            <a:r>
              <a:rPr lang="en-IN" sz="2000" b="1" dirty="0"/>
              <a:t>Configuration:</a:t>
            </a:r>
            <a:r>
              <a:rPr lang="en-IN" sz="2000" dirty="0"/>
              <a:t> </a:t>
            </a:r>
            <a:r>
              <a:rPr lang="en-IN" dirty="0"/>
              <a:t>requirements.txt</a:t>
            </a:r>
            <a:r>
              <a:rPr lang="en-IN" sz="2000" dirty="0"/>
              <a:t>, </a:t>
            </a:r>
            <a:r>
              <a:rPr lang="en-IN" dirty="0"/>
              <a:t>config.py</a:t>
            </a:r>
            <a:r>
              <a:rPr lang="en-IN" sz="2000" dirty="0"/>
              <a:t>, </a:t>
            </a:r>
            <a:r>
              <a:rPr lang="en-IN" dirty="0"/>
              <a:t>README.md</a:t>
            </a:r>
            <a:r>
              <a:rPr lang="en-IN" sz="2000" dirty="0"/>
              <a:t>, </a:t>
            </a:r>
            <a:r>
              <a:rPr lang="en-IN" dirty="0"/>
              <a:t>.</a:t>
            </a:r>
            <a:r>
              <a:rPr lang="en-IN" dirty="0" err="1"/>
              <a:t>gitignore</a:t>
            </a:r>
            <a:endParaRPr lang="en-IN" sz="2000" dirty="0"/>
          </a:p>
        </p:txBody>
      </p:sp>
    </p:spTree>
    <p:extLst>
      <p:ext uri="{BB962C8B-B14F-4D97-AF65-F5344CB8AC3E}">
        <p14:creationId xmlns:p14="http://schemas.microsoft.com/office/powerpoint/2010/main" val="3816758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223010-628D-85EF-04A9-5976A799BC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51258" y="736290"/>
            <a:ext cx="9157123" cy="5385420"/>
          </a:xfrm>
          <a:prstGeom prst="rect">
            <a:avLst/>
          </a:prstGeom>
        </p:spPr>
      </p:pic>
      <p:pic>
        <p:nvPicPr>
          <p:cNvPr id="5" name="Picture 4">
            <a:extLst>
              <a:ext uri="{FF2B5EF4-FFF2-40B4-BE49-F238E27FC236}">
                <a16:creationId xmlns:a16="http://schemas.microsoft.com/office/drawing/2014/main" id="{8CAE1554-9C02-1B46-B4A4-36BE20CC64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368" y="160629"/>
            <a:ext cx="1812224" cy="6536742"/>
          </a:xfrm>
          <a:prstGeom prst="rect">
            <a:avLst/>
          </a:prstGeom>
        </p:spPr>
      </p:pic>
    </p:spTree>
    <p:extLst>
      <p:ext uri="{BB962C8B-B14F-4D97-AF65-F5344CB8AC3E}">
        <p14:creationId xmlns:p14="http://schemas.microsoft.com/office/powerpoint/2010/main" val="3070566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7B2CFC-D55A-F7C0-1D93-8ECE582F3595}"/>
              </a:ext>
            </a:extLst>
          </p:cNvPr>
          <p:cNvSpPr txBox="1"/>
          <p:nvPr/>
        </p:nvSpPr>
        <p:spPr>
          <a:xfrm>
            <a:off x="3796284" y="530352"/>
            <a:ext cx="4599432" cy="523220"/>
          </a:xfrm>
          <a:prstGeom prst="rect">
            <a:avLst/>
          </a:prstGeom>
          <a:noFill/>
        </p:spPr>
        <p:txBody>
          <a:bodyPr wrap="square" rtlCol="0">
            <a:spAutoFit/>
          </a:bodyPr>
          <a:lstStyle/>
          <a:p>
            <a:pPr algn="ctr"/>
            <a:r>
              <a:rPr lang="en-US" sz="2800" b="1" i="0" u="none" strike="noStrike" cap="none" dirty="0">
                <a:solidFill>
                  <a:srgbClr val="051D3A"/>
                </a:solidFill>
                <a:latin typeface="Arial" panose="020B0604020202020204" pitchFamily="34" charset="0"/>
                <a:ea typeface="Times New Roman"/>
                <a:cs typeface="Arial" panose="020B0604020202020204" pitchFamily="34" charset="0"/>
                <a:sym typeface="Times New Roman"/>
              </a:rPr>
              <a:t>IBM Bob Screenshots</a:t>
            </a:r>
            <a:endParaRPr lang="en-IN" sz="2800" b="1"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CC5793F1-97A3-45D6-013B-933CEF2C46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2066" y="1191980"/>
            <a:ext cx="9027868" cy="5309403"/>
          </a:xfrm>
          <a:prstGeom prst="rect">
            <a:avLst/>
          </a:prstGeom>
        </p:spPr>
      </p:pic>
    </p:spTree>
    <p:extLst>
      <p:ext uri="{BB962C8B-B14F-4D97-AF65-F5344CB8AC3E}">
        <p14:creationId xmlns:p14="http://schemas.microsoft.com/office/powerpoint/2010/main" val="3729711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C33E8-E5A3-D0C0-4DB5-0D407EBBCC0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F30128-9933-9BAA-1243-0B45F3C449EB}"/>
              </a:ext>
            </a:extLst>
          </p:cNvPr>
          <p:cNvSpPr txBox="1"/>
          <p:nvPr/>
        </p:nvSpPr>
        <p:spPr>
          <a:xfrm>
            <a:off x="3796284" y="530352"/>
            <a:ext cx="4599432" cy="523220"/>
          </a:xfrm>
          <a:prstGeom prst="rect">
            <a:avLst/>
          </a:prstGeom>
          <a:noFill/>
        </p:spPr>
        <p:txBody>
          <a:bodyPr wrap="square" rtlCol="0">
            <a:spAutoFit/>
          </a:bodyPr>
          <a:lstStyle/>
          <a:p>
            <a:pPr algn="ctr"/>
            <a:r>
              <a:rPr lang="en-US" sz="2800" b="1" i="0" u="none" strike="noStrike" cap="none" dirty="0">
                <a:solidFill>
                  <a:srgbClr val="051D3A"/>
                </a:solidFill>
                <a:latin typeface="Arial" panose="020B0604020202020204" pitchFamily="34" charset="0"/>
                <a:ea typeface="Times New Roman"/>
                <a:cs typeface="Arial" panose="020B0604020202020204" pitchFamily="34" charset="0"/>
                <a:sym typeface="Times New Roman"/>
              </a:rPr>
              <a:t>IBM Bob Screenshots</a:t>
            </a:r>
            <a:endParaRPr lang="en-IN" sz="2800" b="1"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4BAD947D-CD4B-1D22-A199-59712BF0FD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1496" y="1149914"/>
            <a:ext cx="9169008" cy="5397189"/>
          </a:xfrm>
          <a:prstGeom prst="rect">
            <a:avLst/>
          </a:prstGeom>
        </p:spPr>
      </p:pic>
    </p:spTree>
    <p:extLst>
      <p:ext uri="{BB962C8B-B14F-4D97-AF65-F5344CB8AC3E}">
        <p14:creationId xmlns:p14="http://schemas.microsoft.com/office/powerpoint/2010/main" val="29608555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1D5A3-0FEE-9CCE-5E8C-42E8B478D5B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84DBE9C-6054-F2A0-881F-542C3B71FB40}"/>
              </a:ext>
            </a:extLst>
          </p:cNvPr>
          <p:cNvSpPr txBox="1"/>
          <p:nvPr/>
        </p:nvSpPr>
        <p:spPr>
          <a:xfrm>
            <a:off x="3796284" y="530352"/>
            <a:ext cx="4599432" cy="523220"/>
          </a:xfrm>
          <a:prstGeom prst="rect">
            <a:avLst/>
          </a:prstGeom>
          <a:noFill/>
        </p:spPr>
        <p:txBody>
          <a:bodyPr wrap="square" rtlCol="0">
            <a:spAutoFit/>
          </a:bodyPr>
          <a:lstStyle/>
          <a:p>
            <a:pPr algn="ctr"/>
            <a:r>
              <a:rPr lang="en-US" sz="2800" b="1" i="0" u="none" strike="noStrike" cap="none" dirty="0">
                <a:solidFill>
                  <a:srgbClr val="051D3A"/>
                </a:solidFill>
                <a:latin typeface="Arial" panose="020B0604020202020204" pitchFamily="34" charset="0"/>
                <a:ea typeface="Times New Roman"/>
                <a:cs typeface="Arial" panose="020B0604020202020204" pitchFamily="34" charset="0"/>
                <a:sym typeface="Times New Roman"/>
              </a:rPr>
              <a:t>IBM Bob Screenshots</a:t>
            </a:r>
            <a:endParaRPr lang="en-IN" sz="2800" b="1"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CEB0DF4A-F83A-8320-650E-DA7EA2D450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4322" y="1053572"/>
            <a:ext cx="9503356" cy="5589044"/>
          </a:xfrm>
          <a:prstGeom prst="rect">
            <a:avLst/>
          </a:prstGeom>
        </p:spPr>
      </p:pic>
    </p:spTree>
    <p:extLst>
      <p:ext uri="{BB962C8B-B14F-4D97-AF65-F5344CB8AC3E}">
        <p14:creationId xmlns:p14="http://schemas.microsoft.com/office/powerpoint/2010/main" val="539542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D678AC-AF69-0D3C-33BA-ED3DC249CA3B}"/>
              </a:ext>
            </a:extLst>
          </p:cNvPr>
          <p:cNvSpPr txBox="1"/>
          <p:nvPr/>
        </p:nvSpPr>
        <p:spPr>
          <a:xfrm>
            <a:off x="2927604" y="310896"/>
            <a:ext cx="6336792" cy="523220"/>
          </a:xfrm>
          <a:prstGeom prst="rect">
            <a:avLst/>
          </a:prstGeom>
          <a:noFill/>
        </p:spPr>
        <p:txBody>
          <a:bodyPr wrap="square" rtlCol="0">
            <a:spAutoFit/>
          </a:bodyPr>
          <a:lstStyle/>
          <a:p>
            <a:pPr algn="ctr"/>
            <a:r>
              <a:rPr lang="en-US" sz="2800" b="1" dirty="0">
                <a:solidFill>
                  <a:schemeClr val="dk1"/>
                </a:solidFill>
                <a:latin typeface="Arial" panose="020B0604020202020204" pitchFamily="34" charset="0"/>
                <a:ea typeface="Calibri"/>
                <a:cs typeface="Arial" panose="020B0604020202020204" pitchFamily="34" charset="0"/>
                <a:sym typeface="Calibri"/>
              </a:rPr>
              <a:t>Architecture blueprint for IBM bob</a:t>
            </a:r>
            <a:endParaRPr lang="en-IN" sz="28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B99CB83D-A5ED-4E70-4B8E-43BE839B08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2110" y="834116"/>
            <a:ext cx="8907780" cy="5938520"/>
          </a:xfrm>
          <a:prstGeom prst="rect">
            <a:avLst/>
          </a:prstGeom>
        </p:spPr>
      </p:pic>
    </p:spTree>
    <p:extLst>
      <p:ext uri="{BB962C8B-B14F-4D97-AF65-F5344CB8AC3E}">
        <p14:creationId xmlns:p14="http://schemas.microsoft.com/office/powerpoint/2010/main" val="1615605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E131D3-4A6E-F5AB-D0CF-D3C1B574E691}"/>
              </a:ext>
            </a:extLst>
          </p:cNvPr>
          <p:cNvSpPr txBox="1"/>
          <p:nvPr/>
        </p:nvSpPr>
        <p:spPr>
          <a:xfrm>
            <a:off x="3087624" y="305318"/>
            <a:ext cx="6016752"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Role of Agentic AI in the solution </a:t>
            </a:r>
            <a:endParaRPr lang="en-IN" sz="2800"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20022C7D-22DD-4F82-0B8C-491A6FAA7329}"/>
              </a:ext>
            </a:extLst>
          </p:cNvPr>
          <p:cNvSpPr txBox="1"/>
          <p:nvPr/>
        </p:nvSpPr>
        <p:spPr>
          <a:xfrm>
            <a:off x="271272" y="828537"/>
            <a:ext cx="7964424" cy="6001643"/>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1. Understand Student</a:t>
            </a:r>
          </a:p>
          <a:p>
            <a:r>
              <a:rPr lang="en-IN" sz="1600" dirty="0" err="1">
                <a:latin typeface="Arial" panose="020B0604020202020204" pitchFamily="34" charset="0"/>
                <a:cs typeface="Arial" panose="020B0604020202020204" pitchFamily="34" charset="0"/>
              </a:rPr>
              <a:t>Analyzes</a:t>
            </a:r>
            <a:r>
              <a:rPr lang="en-IN" sz="1600" dirty="0">
                <a:latin typeface="Arial" panose="020B0604020202020204" pitchFamily="34" charset="0"/>
                <a:cs typeface="Arial" panose="020B0604020202020204" pitchFamily="34" charset="0"/>
              </a:rPr>
              <a:t> the student's </a:t>
            </a:r>
            <a:r>
              <a:rPr lang="en-IN" sz="1600" b="1" dirty="0">
                <a:latin typeface="Arial" panose="020B0604020202020204" pitchFamily="34" charset="0"/>
                <a:cs typeface="Arial" panose="020B0604020202020204" pitchFamily="34" charset="0"/>
              </a:rPr>
              <a:t>academic performance, skills, interests, projects, and career goals</a:t>
            </a:r>
            <a:r>
              <a:rPr lang="en-IN" sz="1600" dirty="0">
                <a:latin typeface="Arial" panose="020B0604020202020204" pitchFamily="34" charset="0"/>
                <a:cs typeface="Arial" panose="020B0604020202020204" pitchFamily="34" charset="0"/>
              </a:rPr>
              <a:t>.</a:t>
            </a:r>
          </a:p>
          <a:p>
            <a:r>
              <a:rPr lang="en-IN" sz="1600" dirty="0">
                <a:latin typeface="Arial" panose="020B0604020202020204" pitchFamily="34" charset="0"/>
                <a:cs typeface="Arial" panose="020B0604020202020204" pitchFamily="34" charset="0"/>
              </a:rPr>
              <a:t>⬇️</a:t>
            </a:r>
          </a:p>
          <a:p>
            <a:r>
              <a:rPr lang="en-IN" sz="1600" b="1" dirty="0">
                <a:latin typeface="Arial" panose="020B0604020202020204" pitchFamily="34" charset="0"/>
                <a:cs typeface="Arial" panose="020B0604020202020204" pitchFamily="34" charset="0"/>
              </a:rPr>
              <a:t>2. Identify Career Intent</a:t>
            </a:r>
          </a:p>
          <a:p>
            <a:r>
              <a:rPr lang="en-IN" sz="1600" dirty="0">
                <a:latin typeface="Arial" panose="020B0604020202020204" pitchFamily="34" charset="0"/>
                <a:cs typeface="Arial" panose="020B0604020202020204" pitchFamily="34" charset="0"/>
              </a:rPr>
              <a:t>Determines what the student needs — </a:t>
            </a:r>
            <a:r>
              <a:rPr lang="en-IN" sz="1600" b="1" dirty="0">
                <a:latin typeface="Arial" panose="020B0604020202020204" pitchFamily="34" charset="0"/>
                <a:cs typeface="Arial" panose="020B0604020202020204" pitchFamily="34" charset="0"/>
              </a:rPr>
              <a:t>career discovery, comparison, skill-gap analysis, learning guidance, projects, or readiness assessment</a:t>
            </a:r>
            <a:r>
              <a:rPr lang="en-IN" sz="1600" dirty="0">
                <a:latin typeface="Arial" panose="020B0604020202020204" pitchFamily="34" charset="0"/>
                <a:cs typeface="Arial" panose="020B0604020202020204" pitchFamily="34" charset="0"/>
              </a:rPr>
              <a:t>.</a:t>
            </a:r>
          </a:p>
          <a:p>
            <a:r>
              <a:rPr lang="en-IN" sz="1600" dirty="0">
                <a:latin typeface="Arial" panose="020B0604020202020204" pitchFamily="34" charset="0"/>
                <a:cs typeface="Arial" panose="020B0604020202020204" pitchFamily="34" charset="0"/>
              </a:rPr>
              <a:t>⬇️</a:t>
            </a:r>
          </a:p>
          <a:p>
            <a:r>
              <a:rPr lang="en-IN" sz="1600" b="1" dirty="0">
                <a:latin typeface="Arial" panose="020B0604020202020204" pitchFamily="34" charset="0"/>
                <a:cs typeface="Arial" panose="020B0604020202020204" pitchFamily="34" charset="0"/>
              </a:rPr>
              <a:t>3. </a:t>
            </a:r>
            <a:r>
              <a:rPr lang="en-IN" sz="1600" b="1" dirty="0" err="1">
                <a:latin typeface="Arial" panose="020B0604020202020204" pitchFamily="34" charset="0"/>
                <a:cs typeface="Arial" panose="020B0604020202020204" pitchFamily="34" charset="0"/>
              </a:rPr>
              <a:t>Analyze</a:t>
            </a:r>
            <a:r>
              <a:rPr lang="en-IN" sz="1600" b="1" dirty="0">
                <a:latin typeface="Arial" panose="020B0604020202020204" pitchFamily="34" charset="0"/>
                <a:cs typeface="Arial" panose="020B0604020202020204" pitchFamily="34" charset="0"/>
              </a:rPr>
              <a:t> &amp; Reason</a:t>
            </a:r>
          </a:p>
          <a:p>
            <a:r>
              <a:rPr lang="en-IN" sz="1600" dirty="0">
                <a:latin typeface="Arial" panose="020B0604020202020204" pitchFamily="34" charset="0"/>
                <a:cs typeface="Arial" panose="020B0604020202020204" pitchFamily="34" charset="0"/>
              </a:rPr>
              <a:t>The </a:t>
            </a:r>
            <a:r>
              <a:rPr lang="en-IN" sz="1600" b="1" dirty="0">
                <a:latin typeface="Arial" panose="020B0604020202020204" pitchFamily="34" charset="0"/>
                <a:cs typeface="Arial" panose="020B0604020202020204" pitchFamily="34" charset="0"/>
              </a:rPr>
              <a:t>Career Compass Agent</a:t>
            </a:r>
            <a:r>
              <a:rPr lang="en-IN" sz="1600" dirty="0">
                <a:latin typeface="Arial" panose="020B0604020202020204" pitchFamily="34" charset="0"/>
                <a:cs typeface="Arial" panose="020B0604020202020204" pitchFamily="34" charset="0"/>
              </a:rPr>
              <a:t> evaluates the student's profile against career requirements using </a:t>
            </a:r>
            <a:r>
              <a:rPr lang="en-IN" sz="1600" b="1" dirty="0">
                <a:latin typeface="Arial" panose="020B0604020202020204" pitchFamily="34" charset="0"/>
                <a:cs typeface="Arial" panose="020B0604020202020204" pitchFamily="34" charset="0"/>
              </a:rPr>
              <a:t>IBM Granite and the career knowledge base</a:t>
            </a:r>
            <a:r>
              <a:rPr lang="en-IN" sz="1600" dirty="0">
                <a:latin typeface="Arial" panose="020B0604020202020204" pitchFamily="34" charset="0"/>
                <a:cs typeface="Arial" panose="020B0604020202020204" pitchFamily="34" charset="0"/>
              </a:rPr>
              <a:t>.</a:t>
            </a:r>
          </a:p>
          <a:p>
            <a:r>
              <a:rPr lang="en-IN" sz="1600" dirty="0">
                <a:latin typeface="Arial" panose="020B0604020202020204" pitchFamily="34" charset="0"/>
                <a:cs typeface="Arial" panose="020B0604020202020204" pitchFamily="34" charset="0"/>
              </a:rPr>
              <a:t>⬇️</a:t>
            </a:r>
          </a:p>
          <a:p>
            <a:r>
              <a:rPr lang="en-IN" sz="1600" b="1" dirty="0">
                <a:latin typeface="Arial" panose="020B0604020202020204" pitchFamily="34" charset="0"/>
                <a:cs typeface="Arial" panose="020B0604020202020204" pitchFamily="34" charset="0"/>
              </a:rPr>
              <a:t>4. Select &amp; Execute Tools</a:t>
            </a:r>
          </a:p>
          <a:p>
            <a:r>
              <a:rPr lang="en-IN" sz="1600" dirty="0">
                <a:latin typeface="Arial" panose="020B0604020202020204" pitchFamily="34" charset="0"/>
                <a:cs typeface="Arial" panose="020B0604020202020204" pitchFamily="34" charset="0"/>
              </a:rPr>
              <a:t>The agent dynamically selects the appropriate specialized tool:</a:t>
            </a:r>
          </a:p>
          <a:p>
            <a:r>
              <a:rPr lang="en-IN" sz="1600" b="1" dirty="0">
                <a:latin typeface="Arial" panose="020B0604020202020204" pitchFamily="34" charset="0"/>
                <a:cs typeface="Arial" panose="020B0604020202020204" pitchFamily="34" charset="0"/>
              </a:rPr>
              <a:t>Career Tool → Skill Tool → Roadmap Tool → Learning Tool → Project Tool → Market Tool</a:t>
            </a:r>
            <a:endParaRPr lang="en-IN" sz="1600" dirty="0">
              <a:latin typeface="Arial" panose="020B0604020202020204" pitchFamily="34" charset="0"/>
              <a:cs typeface="Arial" panose="020B0604020202020204" pitchFamily="34" charset="0"/>
            </a:endParaRPr>
          </a:p>
          <a:p>
            <a:r>
              <a:rPr lang="en-IN" sz="1600" dirty="0">
                <a:latin typeface="Arial" panose="020B0604020202020204" pitchFamily="34" charset="0"/>
                <a:cs typeface="Arial" panose="020B0604020202020204" pitchFamily="34" charset="0"/>
              </a:rPr>
              <a:t>⬇️</a:t>
            </a:r>
          </a:p>
          <a:p>
            <a:r>
              <a:rPr lang="en-IN" sz="1600" b="1" dirty="0">
                <a:latin typeface="Arial" panose="020B0604020202020204" pitchFamily="34" charset="0"/>
                <a:cs typeface="Arial" panose="020B0604020202020204" pitchFamily="34" charset="0"/>
              </a:rPr>
              <a:t>5. Generate Personalized Guidance</a:t>
            </a:r>
          </a:p>
          <a:p>
            <a:r>
              <a:rPr lang="en-IN" sz="1600" dirty="0">
                <a:latin typeface="Arial" panose="020B0604020202020204" pitchFamily="34" charset="0"/>
                <a:cs typeface="Arial" panose="020B0604020202020204" pitchFamily="34" charset="0"/>
              </a:rPr>
              <a:t>Combines the analysis and retrieved knowledge to provide </a:t>
            </a:r>
            <a:r>
              <a:rPr lang="en-IN" sz="1600" b="1" dirty="0">
                <a:latin typeface="Arial" panose="020B0604020202020204" pitchFamily="34" charset="0"/>
                <a:cs typeface="Arial" panose="020B0604020202020204" pitchFamily="34" charset="0"/>
              </a:rPr>
              <a:t>personalized career recommendations and actionable next steps</a:t>
            </a:r>
            <a:r>
              <a:rPr lang="en-IN" sz="1600" dirty="0">
                <a:latin typeface="Arial" panose="020B0604020202020204" pitchFamily="34" charset="0"/>
                <a:cs typeface="Arial" panose="020B0604020202020204" pitchFamily="34" charset="0"/>
              </a:rPr>
              <a:t>.</a:t>
            </a:r>
          </a:p>
          <a:p>
            <a:r>
              <a:rPr lang="en-IN" sz="1600" dirty="0">
                <a:latin typeface="Arial" panose="020B0604020202020204" pitchFamily="34" charset="0"/>
                <a:cs typeface="Arial" panose="020B0604020202020204" pitchFamily="34" charset="0"/>
              </a:rPr>
              <a:t>⬇️</a:t>
            </a:r>
          </a:p>
          <a:p>
            <a:r>
              <a:rPr lang="en-IN" sz="1600" b="1" dirty="0">
                <a:latin typeface="Arial" panose="020B0604020202020204" pitchFamily="34" charset="0"/>
                <a:cs typeface="Arial" panose="020B0604020202020204" pitchFamily="34" charset="0"/>
              </a:rPr>
              <a:t>6. Maintain Context</a:t>
            </a:r>
          </a:p>
          <a:p>
            <a:r>
              <a:rPr lang="en-IN" sz="1600" dirty="0">
                <a:latin typeface="Arial" panose="020B0604020202020204" pitchFamily="34" charset="0"/>
                <a:cs typeface="Arial" panose="020B0604020202020204" pitchFamily="34" charset="0"/>
              </a:rPr>
              <a:t>Uses </a:t>
            </a:r>
            <a:r>
              <a:rPr lang="en-IN" sz="1600" b="1" dirty="0">
                <a:latin typeface="Arial" panose="020B0604020202020204" pitchFamily="34" charset="0"/>
                <a:cs typeface="Arial" panose="020B0604020202020204" pitchFamily="34" charset="0"/>
              </a:rPr>
              <a:t>conversation memory</a:t>
            </a:r>
            <a:r>
              <a:rPr lang="en-IN" sz="1600" dirty="0">
                <a:latin typeface="Arial" panose="020B0604020202020204" pitchFamily="34" charset="0"/>
                <a:cs typeface="Arial" panose="020B0604020202020204" pitchFamily="34" charset="0"/>
              </a:rPr>
              <a:t> to understand follow-up questions and provide context-aware guidance throughout the interaction.</a:t>
            </a:r>
          </a:p>
        </p:txBody>
      </p:sp>
      <p:pic>
        <p:nvPicPr>
          <p:cNvPr id="5" name="Picture 4">
            <a:extLst>
              <a:ext uri="{FF2B5EF4-FFF2-40B4-BE49-F238E27FC236}">
                <a16:creationId xmlns:a16="http://schemas.microsoft.com/office/drawing/2014/main" id="{5FF67A06-8658-AA4B-0887-345A1EA0DB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10728" y="971859"/>
            <a:ext cx="3810000" cy="5715000"/>
          </a:xfrm>
          <a:prstGeom prst="rect">
            <a:avLst/>
          </a:prstGeom>
        </p:spPr>
      </p:pic>
    </p:spTree>
    <p:extLst>
      <p:ext uri="{BB962C8B-B14F-4D97-AF65-F5344CB8AC3E}">
        <p14:creationId xmlns:p14="http://schemas.microsoft.com/office/powerpoint/2010/main" val="657980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56601-38DD-B448-EDBD-A74E44F9F38F}"/>
              </a:ext>
            </a:extLst>
          </p:cNvPr>
          <p:cNvSpPr txBox="1"/>
          <p:nvPr/>
        </p:nvSpPr>
        <p:spPr>
          <a:xfrm>
            <a:off x="4783836" y="713232"/>
            <a:ext cx="2624328"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sym typeface="Times New Roman"/>
              </a:rPr>
              <a:t>Token Usage </a:t>
            </a:r>
          </a:p>
        </p:txBody>
      </p:sp>
      <p:pic>
        <p:nvPicPr>
          <p:cNvPr id="4" name="Picture 3">
            <a:extLst>
              <a:ext uri="{FF2B5EF4-FFF2-40B4-BE49-F238E27FC236}">
                <a16:creationId xmlns:a16="http://schemas.microsoft.com/office/drawing/2014/main" id="{F658A076-EF42-80F8-79A3-514E0524CF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6113" y="1675162"/>
            <a:ext cx="8699774" cy="3507675"/>
          </a:xfrm>
          <a:prstGeom prst="rect">
            <a:avLst/>
          </a:prstGeom>
        </p:spPr>
      </p:pic>
    </p:spTree>
    <p:extLst>
      <p:ext uri="{BB962C8B-B14F-4D97-AF65-F5344CB8AC3E}">
        <p14:creationId xmlns:p14="http://schemas.microsoft.com/office/powerpoint/2010/main" val="120907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5AC1CD-DE00-B820-1C8F-B5A48447C5EB}"/>
              </a:ext>
            </a:extLst>
          </p:cNvPr>
          <p:cNvSpPr txBox="1"/>
          <p:nvPr/>
        </p:nvSpPr>
        <p:spPr>
          <a:xfrm>
            <a:off x="3558540" y="466344"/>
            <a:ext cx="5074920"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sym typeface="Times New Roman"/>
              </a:rPr>
              <a:t>Project Output Screenshot</a:t>
            </a:r>
            <a:endParaRPr lang="en-IN" sz="28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64F9026D-E6F1-8B2F-0AA6-30640DFE77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3762" y="1168394"/>
            <a:ext cx="9424475" cy="5223262"/>
          </a:xfrm>
          <a:prstGeom prst="rect">
            <a:avLst/>
          </a:prstGeom>
        </p:spPr>
      </p:pic>
    </p:spTree>
    <p:extLst>
      <p:ext uri="{BB962C8B-B14F-4D97-AF65-F5344CB8AC3E}">
        <p14:creationId xmlns:p14="http://schemas.microsoft.com/office/powerpoint/2010/main" val="16614971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5AC0761-9C14-3030-61D0-87E453DFE5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8535" y="584658"/>
            <a:ext cx="10794930" cy="5688684"/>
          </a:xfrm>
          <a:prstGeom prst="rect">
            <a:avLst/>
          </a:prstGeom>
        </p:spPr>
      </p:pic>
    </p:spTree>
    <p:extLst>
      <p:ext uri="{BB962C8B-B14F-4D97-AF65-F5344CB8AC3E}">
        <p14:creationId xmlns:p14="http://schemas.microsoft.com/office/powerpoint/2010/main" val="4256320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AAD30B-B4C0-2423-C4D4-294AABA826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13" y="253837"/>
            <a:ext cx="12122773" cy="6350326"/>
          </a:xfrm>
          <a:prstGeom prst="rect">
            <a:avLst/>
          </a:prstGeom>
        </p:spPr>
      </p:pic>
    </p:spTree>
    <p:extLst>
      <p:ext uri="{BB962C8B-B14F-4D97-AF65-F5344CB8AC3E}">
        <p14:creationId xmlns:p14="http://schemas.microsoft.com/office/powerpoint/2010/main" val="39672340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784D6D-F7F6-05FB-9BAE-174ABF19CC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39" y="244311"/>
            <a:ext cx="12103722" cy="6369377"/>
          </a:xfrm>
          <a:prstGeom prst="rect">
            <a:avLst/>
          </a:prstGeom>
        </p:spPr>
      </p:pic>
    </p:spTree>
    <p:extLst>
      <p:ext uri="{BB962C8B-B14F-4D97-AF65-F5344CB8AC3E}">
        <p14:creationId xmlns:p14="http://schemas.microsoft.com/office/powerpoint/2010/main" val="37352120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3E9809-A956-A56A-51A2-54D3B1D10993}"/>
              </a:ext>
            </a:extLst>
          </p:cNvPr>
          <p:cNvSpPr txBox="1"/>
          <p:nvPr/>
        </p:nvSpPr>
        <p:spPr>
          <a:xfrm>
            <a:off x="3914953" y="228600"/>
            <a:ext cx="4362093" cy="523220"/>
          </a:xfrm>
          <a:prstGeom prst="rect">
            <a:avLst/>
          </a:prstGeom>
          <a:noFill/>
        </p:spPr>
        <p:txBody>
          <a:bodyPr wrap="none" rtlCol="0">
            <a:spAutoFit/>
          </a:bodyPr>
          <a:lstStyle/>
          <a:p>
            <a:pPr algn="ctr"/>
            <a:r>
              <a:rPr lang="en-US" sz="2800" b="1" dirty="0">
                <a:latin typeface="Arial" panose="020B0604020202020204" pitchFamily="34" charset="0"/>
                <a:cs typeface="Arial" panose="020B0604020202020204" pitchFamily="34" charset="0"/>
              </a:rPr>
              <a:t>Novelty and Uniqueness</a:t>
            </a:r>
            <a:endParaRPr lang="en-IN" sz="2800"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4EEC0961-6CA1-AC71-D0A2-1FE7AD565DEC}"/>
              </a:ext>
            </a:extLst>
          </p:cNvPr>
          <p:cNvSpPr txBox="1"/>
          <p:nvPr/>
        </p:nvSpPr>
        <p:spPr>
          <a:xfrm>
            <a:off x="-1" y="889843"/>
            <a:ext cx="12192000" cy="5078313"/>
          </a:xfrm>
          <a:prstGeom prst="rect">
            <a:avLst/>
          </a:prstGeom>
          <a:noFill/>
        </p:spPr>
        <p:txBody>
          <a:bodyPr wrap="square" rtlCol="0">
            <a:spAutoFit/>
          </a:bodyPr>
          <a:lstStyle/>
          <a:p>
            <a:pPr marL="285750" indent="-285750">
              <a:buFont typeface="Wingdings" panose="05000000000000000000" pitchFamily="2" charset="2"/>
              <a:buChar char="v"/>
            </a:pPr>
            <a:r>
              <a:rPr lang="en-IN" b="1" dirty="0">
                <a:latin typeface="Arial" panose="020B0604020202020204" pitchFamily="34" charset="0"/>
                <a:cs typeface="Arial" panose="020B0604020202020204" pitchFamily="34" charset="0"/>
              </a:rPr>
              <a:t> Personalized Career Intelligence</a:t>
            </a:r>
          </a:p>
          <a:p>
            <a:r>
              <a:rPr lang="en-IN" dirty="0">
                <a:latin typeface="Arial" panose="020B0604020202020204" pitchFamily="34" charset="0"/>
                <a:cs typeface="Arial" panose="020B0604020202020204" pitchFamily="34" charset="0"/>
              </a:rPr>
              <a:t>Unlike generic career recommendation systems, Career Compass considers the student's </a:t>
            </a:r>
            <a:r>
              <a:rPr lang="en-IN" b="1" dirty="0">
                <a:latin typeface="Arial" panose="020B0604020202020204" pitchFamily="34" charset="0"/>
                <a:cs typeface="Arial" panose="020B0604020202020204" pitchFamily="34" charset="0"/>
              </a:rPr>
              <a:t>skills, academic performance, interests, projects, and goals</a:t>
            </a:r>
            <a:r>
              <a:rPr lang="en-IN" dirty="0">
                <a:latin typeface="Arial" panose="020B0604020202020204" pitchFamily="34" charset="0"/>
                <a:cs typeface="Arial" panose="020B0604020202020204" pitchFamily="34" charset="0"/>
              </a:rPr>
              <a:t> to provide individualized career guidance.</a:t>
            </a:r>
          </a:p>
          <a:p>
            <a:pPr marL="285750" indent="-285750">
              <a:buFont typeface="Wingdings" panose="05000000000000000000" pitchFamily="2" charset="2"/>
              <a:buChar char="v"/>
            </a:pPr>
            <a:r>
              <a:rPr lang="en-IN" b="1" dirty="0">
                <a:latin typeface="Arial" panose="020B0604020202020204" pitchFamily="34" charset="0"/>
                <a:cs typeface="Arial" panose="020B0604020202020204" pitchFamily="34" charset="0"/>
              </a:rPr>
              <a:t> Agentic Decision-Making</a:t>
            </a:r>
          </a:p>
          <a:p>
            <a:r>
              <a:rPr lang="en-IN" dirty="0">
                <a:latin typeface="Arial" panose="020B0604020202020204" pitchFamily="34" charset="0"/>
                <a:cs typeface="Arial" panose="020B0604020202020204" pitchFamily="34" charset="0"/>
              </a:rPr>
              <a:t>The system doesn't simply return predefined answers. The </a:t>
            </a:r>
            <a:r>
              <a:rPr lang="en-IN" b="1" dirty="0">
                <a:latin typeface="Arial" panose="020B0604020202020204" pitchFamily="34" charset="0"/>
                <a:cs typeface="Arial" panose="020B0604020202020204" pitchFamily="34" charset="0"/>
              </a:rPr>
              <a:t>Career Compass Agent understands the user's intent, plans the task, selects the appropriate tool, and generates a contextual response.</a:t>
            </a:r>
            <a:endParaRPr lang="en-IN"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IN" b="1" dirty="0">
                <a:latin typeface="Arial" panose="020B0604020202020204" pitchFamily="34" charset="0"/>
                <a:cs typeface="Arial" panose="020B0604020202020204" pitchFamily="34" charset="0"/>
              </a:rPr>
              <a:t> Specialized Career Tools</a:t>
            </a:r>
          </a:p>
          <a:p>
            <a:r>
              <a:rPr lang="en-IN" dirty="0">
                <a:latin typeface="Arial" panose="020B0604020202020204" pitchFamily="34" charset="0"/>
                <a:cs typeface="Arial" panose="020B0604020202020204" pitchFamily="34" charset="0"/>
              </a:rPr>
              <a:t>A single companion integrates multiple capabilities — </a:t>
            </a:r>
            <a:r>
              <a:rPr lang="en-IN" b="1" dirty="0">
                <a:latin typeface="Arial" panose="020B0604020202020204" pitchFamily="34" charset="0"/>
                <a:cs typeface="Arial" panose="020B0604020202020204" pitchFamily="34" charset="0"/>
              </a:rPr>
              <a:t>Career Matching, Skill-Gap Analysis, Roadmap Generation, Learning Recommendations, Project Suggestions, and Market Guidance.</a:t>
            </a:r>
            <a:endParaRPr lang="en-IN"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IN" b="1" dirty="0">
                <a:latin typeface="Arial" panose="020B0604020202020204" pitchFamily="34" charset="0"/>
                <a:cs typeface="Arial" panose="020B0604020202020204" pitchFamily="34" charset="0"/>
              </a:rPr>
              <a:t> Context-Aware Conversation</a:t>
            </a:r>
          </a:p>
          <a:p>
            <a:r>
              <a:rPr lang="en-IN" dirty="0">
                <a:latin typeface="Arial" panose="020B0604020202020204" pitchFamily="34" charset="0"/>
                <a:cs typeface="Arial" panose="020B0604020202020204" pitchFamily="34" charset="0"/>
              </a:rPr>
              <a:t>The agent maintains </a:t>
            </a:r>
            <a:r>
              <a:rPr lang="en-IN" b="1" dirty="0">
                <a:latin typeface="Arial" panose="020B0604020202020204" pitchFamily="34" charset="0"/>
                <a:cs typeface="Arial" panose="020B0604020202020204" pitchFamily="34" charset="0"/>
              </a:rPr>
              <a:t>conversation memory</a:t>
            </a:r>
            <a:r>
              <a:rPr lang="en-IN" dirty="0">
                <a:latin typeface="Arial" panose="020B0604020202020204" pitchFamily="34" charset="0"/>
                <a:cs typeface="Arial" panose="020B0604020202020204" pitchFamily="34" charset="0"/>
              </a:rPr>
              <a:t>, allowing students to ask follow-up questions without repeatedly providing their profile information.</a:t>
            </a:r>
          </a:p>
          <a:p>
            <a:pPr marL="285750" indent="-285750">
              <a:buFont typeface="Wingdings" panose="05000000000000000000" pitchFamily="2" charset="2"/>
              <a:buChar char="v"/>
            </a:pPr>
            <a:r>
              <a:rPr lang="en-IN" b="1" dirty="0">
                <a:latin typeface="Arial" panose="020B0604020202020204" pitchFamily="34" charset="0"/>
                <a:cs typeface="Arial" panose="020B0604020202020204" pitchFamily="34" charset="0"/>
              </a:rPr>
              <a:t> From Recommendation to Action</a:t>
            </a:r>
          </a:p>
          <a:p>
            <a:r>
              <a:rPr lang="en-IN" dirty="0">
                <a:latin typeface="Arial" panose="020B0604020202020204" pitchFamily="34" charset="0"/>
                <a:cs typeface="Arial" panose="020B0604020202020204" pitchFamily="34" charset="0"/>
              </a:rPr>
              <a:t>Career Compass goes beyond suggesting a career. It creates a </a:t>
            </a:r>
            <a:r>
              <a:rPr lang="en-IN" b="1" dirty="0">
                <a:latin typeface="Arial" panose="020B0604020202020204" pitchFamily="34" charset="0"/>
                <a:cs typeface="Arial" panose="020B0604020202020204" pitchFamily="34" charset="0"/>
              </a:rPr>
              <a:t>clear pathway from “What should I choose?” → “What am I missing?” → “What should I learn?” → “What should I build?” → “Am I ready?”</a:t>
            </a:r>
            <a:endParaRPr lang="en-IN"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n-IN" b="1" dirty="0">
                <a:latin typeface="Arial" panose="020B0604020202020204" pitchFamily="34" charset="0"/>
                <a:cs typeface="Arial" panose="020B0604020202020204" pitchFamily="34" charset="0"/>
              </a:rPr>
              <a:t> Extensible Knowledge-Driven Architecture</a:t>
            </a:r>
          </a:p>
          <a:p>
            <a:r>
              <a:rPr lang="en-IN" dirty="0">
                <a:latin typeface="Arial" panose="020B0604020202020204" pitchFamily="34" charset="0"/>
                <a:cs typeface="Arial" panose="020B0604020202020204" pitchFamily="34" charset="0"/>
              </a:rPr>
              <a:t>Career roles, skills, learning resources, and market information are maintained separately in a structured knowledge base, making the system </a:t>
            </a:r>
            <a:r>
              <a:rPr lang="en-IN" b="1" dirty="0">
                <a:latin typeface="Arial" panose="020B0604020202020204" pitchFamily="34" charset="0"/>
                <a:cs typeface="Arial" panose="020B0604020202020204" pitchFamily="34" charset="0"/>
              </a:rPr>
              <a:t>easy to expand and update</a:t>
            </a:r>
            <a:r>
              <a:rPr lang="en-IN" dirty="0">
                <a:latin typeface="Arial" panose="020B0604020202020204" pitchFamily="34" charset="0"/>
                <a:cs typeface="Arial" panose="020B0604020202020204" pitchFamily="34" charset="0"/>
              </a:rPr>
              <a:t> as career requirements evolve.</a:t>
            </a:r>
          </a:p>
        </p:txBody>
      </p:sp>
      <p:sp>
        <p:nvSpPr>
          <p:cNvPr id="4" name="TextBox 3">
            <a:extLst>
              <a:ext uri="{FF2B5EF4-FFF2-40B4-BE49-F238E27FC236}">
                <a16:creationId xmlns:a16="http://schemas.microsoft.com/office/drawing/2014/main" id="{C5232523-887A-541A-0E81-1392204C4CF5}"/>
              </a:ext>
            </a:extLst>
          </p:cNvPr>
          <p:cNvSpPr txBox="1"/>
          <p:nvPr/>
        </p:nvSpPr>
        <p:spPr>
          <a:xfrm>
            <a:off x="274319" y="5968156"/>
            <a:ext cx="11643360" cy="646331"/>
          </a:xfrm>
          <a:prstGeom prst="rect">
            <a:avLst/>
          </a:prstGeom>
          <a:noFill/>
        </p:spPr>
        <p:txBody>
          <a:bodyPr wrap="square" rtlCol="0">
            <a:spAutoFit/>
          </a:bodyPr>
          <a:lstStyle/>
          <a:p>
            <a:pPr algn="ctr"/>
            <a:r>
              <a:rPr lang="en-IN" b="1" i="1" dirty="0">
                <a:latin typeface="Arial" panose="020B0604020202020204" pitchFamily="34" charset="0"/>
                <a:cs typeface="Arial" panose="020B0604020202020204" pitchFamily="34" charset="0"/>
              </a:rPr>
              <a:t>“Career Compass transforms career </a:t>
            </a:r>
            <a:r>
              <a:rPr lang="en-IN" b="1" i="1" dirty="0" err="1">
                <a:latin typeface="Arial" panose="020B0604020202020204" pitchFamily="34" charset="0"/>
                <a:cs typeface="Arial" panose="020B0604020202020204" pitchFamily="34" charset="0"/>
              </a:rPr>
              <a:t>counseling</a:t>
            </a:r>
            <a:r>
              <a:rPr lang="en-IN" b="1" i="1" dirty="0">
                <a:latin typeface="Arial" panose="020B0604020202020204" pitchFamily="34" charset="0"/>
                <a:cs typeface="Arial" panose="020B0604020202020204" pitchFamily="34" charset="0"/>
              </a:rPr>
              <a:t> from a one-time recommendation into a continuous, personalized career journey.”</a:t>
            </a:r>
          </a:p>
        </p:txBody>
      </p:sp>
    </p:spTree>
    <p:extLst>
      <p:ext uri="{BB962C8B-B14F-4D97-AF65-F5344CB8AC3E}">
        <p14:creationId xmlns:p14="http://schemas.microsoft.com/office/powerpoint/2010/main" val="315705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A0C290-CB18-7948-FD04-0AB377418316}"/>
              </a:ext>
            </a:extLst>
          </p:cNvPr>
          <p:cNvSpPr txBox="1"/>
          <p:nvPr/>
        </p:nvSpPr>
        <p:spPr>
          <a:xfrm>
            <a:off x="4638675" y="2116923"/>
            <a:ext cx="2914650" cy="681469"/>
          </a:xfrm>
          <a:prstGeom prst="rect">
            <a:avLst/>
          </a:prstGeom>
          <a:noFill/>
        </p:spPr>
        <p:txBody>
          <a:bodyPr wrap="square">
            <a:spAutoFit/>
          </a:bodyPr>
          <a:lstStyle/>
          <a:p>
            <a:pPr marL="0" marR="0" lvl="0" indent="0" algn="ctr" rtl="0">
              <a:lnSpc>
                <a:spcPct val="157142"/>
              </a:lnSpc>
              <a:spcBef>
                <a:spcPts val="0"/>
              </a:spcBef>
              <a:spcAft>
                <a:spcPts val="0"/>
              </a:spcAft>
              <a:buClr>
                <a:srgbClr val="051D3A"/>
              </a:buClr>
              <a:buSzPts val="3500"/>
              <a:buFont typeface="Times New Roman"/>
              <a:buNone/>
            </a:pPr>
            <a:r>
              <a:rPr lang="en-US" sz="2800" b="1" dirty="0">
                <a:latin typeface="Arial" panose="020B0604020202020204" pitchFamily="34" charset="0"/>
                <a:cs typeface="Arial" panose="020B0604020202020204" pitchFamily="34" charset="0"/>
                <a:sym typeface="Times New Roman"/>
              </a:rPr>
              <a:t>Git Hub Link</a:t>
            </a:r>
          </a:p>
        </p:txBody>
      </p:sp>
      <p:sp>
        <p:nvSpPr>
          <p:cNvPr id="4" name="TextBox 3">
            <a:extLst>
              <a:ext uri="{FF2B5EF4-FFF2-40B4-BE49-F238E27FC236}">
                <a16:creationId xmlns:a16="http://schemas.microsoft.com/office/drawing/2014/main" id="{05F653D4-D850-0111-0B84-F2A50E98BC06}"/>
              </a:ext>
            </a:extLst>
          </p:cNvPr>
          <p:cNvSpPr txBox="1"/>
          <p:nvPr/>
        </p:nvSpPr>
        <p:spPr>
          <a:xfrm>
            <a:off x="3212592" y="3228945"/>
            <a:ext cx="5766816" cy="400110"/>
          </a:xfrm>
          <a:prstGeom prst="rect">
            <a:avLst/>
          </a:prstGeom>
          <a:noFill/>
        </p:spPr>
        <p:txBody>
          <a:bodyPr wrap="square" rtlCol="0">
            <a:spAutoFit/>
          </a:bodyPr>
          <a:lstStyle/>
          <a:p>
            <a:pPr algn="ctr"/>
            <a:r>
              <a:rPr lang="en-IN" sz="2000" dirty="0">
                <a:latin typeface="Arial" panose="020B0604020202020204" pitchFamily="34" charset="0"/>
                <a:cs typeface="Arial" panose="020B0604020202020204" pitchFamily="34" charset="0"/>
              </a:rPr>
              <a:t>https://github.com/Pallavi-8101/Career-Compass</a:t>
            </a:r>
          </a:p>
        </p:txBody>
      </p:sp>
    </p:spTree>
    <p:extLst>
      <p:ext uri="{BB962C8B-B14F-4D97-AF65-F5344CB8AC3E}">
        <p14:creationId xmlns:p14="http://schemas.microsoft.com/office/powerpoint/2010/main" val="11032589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09677B-C75A-F2CC-65E5-B43940D560FA}"/>
              </a:ext>
            </a:extLst>
          </p:cNvPr>
          <p:cNvSpPr txBox="1"/>
          <p:nvPr/>
        </p:nvSpPr>
        <p:spPr>
          <a:xfrm>
            <a:off x="1599247" y="1997839"/>
            <a:ext cx="8993505" cy="3477875"/>
          </a:xfrm>
          <a:prstGeom prst="rect">
            <a:avLst/>
          </a:prstGeom>
          <a:noFill/>
        </p:spPr>
        <p:txBody>
          <a:bodyPr wrap="square" rtlCol="0">
            <a:spAutoFit/>
          </a:bodyPr>
          <a:lstStyle/>
          <a:p>
            <a:pPr marL="342900" indent="-342900">
              <a:buAutoNum type="arabicPeriod"/>
            </a:pPr>
            <a:r>
              <a:rPr lang="en-IN" sz="2000" b="1" dirty="0">
                <a:latin typeface="Arial" panose="020B0604020202020204" pitchFamily="34" charset="0"/>
                <a:cs typeface="Arial" panose="020B0604020202020204" pitchFamily="34" charset="0"/>
              </a:rPr>
              <a:t>Real-Time Labor Market Integration –</a:t>
            </a:r>
            <a:br>
              <a:rPr lang="en-IN" sz="2000" dirty="0">
                <a:latin typeface="Arial" panose="020B0604020202020204" pitchFamily="34" charset="0"/>
                <a:cs typeface="Arial" panose="020B0604020202020204" pitchFamily="34" charset="0"/>
              </a:rPr>
            </a:br>
            <a:r>
              <a:rPr lang="en-IN" sz="2000" dirty="0">
                <a:latin typeface="Arial" panose="020B0604020202020204" pitchFamily="34" charset="0"/>
                <a:cs typeface="Arial" panose="020B0604020202020204" pitchFamily="34" charset="0"/>
              </a:rPr>
              <a:t>The system can be integrated with live job portals and industry APIs to track emerging career roles, in-demand skills, salary trends, and employment opportunities. This will enable Career Compass to provide more accurate and up-to-date career recommendations.</a:t>
            </a:r>
          </a:p>
          <a:p>
            <a:pPr marL="342900" indent="-342900">
              <a:buAutoNum type="arabicPeriod"/>
            </a:pPr>
            <a:endParaRPr lang="en-IN" sz="2000" dirty="0">
              <a:latin typeface="Arial" panose="020B0604020202020204" pitchFamily="34" charset="0"/>
              <a:cs typeface="Arial" panose="020B0604020202020204" pitchFamily="34" charset="0"/>
            </a:endParaRPr>
          </a:p>
          <a:p>
            <a:pPr marL="342900" indent="-342900">
              <a:buAutoNum type="arabicPeriod"/>
            </a:pPr>
            <a:r>
              <a:rPr lang="en-IN" sz="2000" b="1" dirty="0">
                <a:latin typeface="Arial" panose="020B0604020202020204" pitchFamily="34" charset="0"/>
                <a:cs typeface="Arial" panose="020B0604020202020204" pitchFamily="34" charset="0"/>
              </a:rPr>
              <a:t> AI-Powered Voice Assistant &amp; Multilingual Support –</a:t>
            </a:r>
            <a:br>
              <a:rPr lang="en-IN" sz="2000" dirty="0">
                <a:latin typeface="Arial" panose="020B0604020202020204" pitchFamily="34" charset="0"/>
                <a:cs typeface="Arial" panose="020B0604020202020204" pitchFamily="34" charset="0"/>
              </a:rPr>
            </a:br>
            <a:r>
              <a:rPr lang="en-IN" sz="2000" dirty="0">
                <a:latin typeface="Arial" panose="020B0604020202020204" pitchFamily="34" charset="0"/>
                <a:cs typeface="Arial" panose="020B0604020202020204" pitchFamily="34" charset="0"/>
              </a:rPr>
              <a:t>Adding voice interaction and multilingual support will improve accessibility and inclusivity. Students can interact naturally in their preferred language, making personalized career guidance available to a wider range of learners.</a:t>
            </a:r>
          </a:p>
        </p:txBody>
      </p:sp>
      <p:sp>
        <p:nvSpPr>
          <p:cNvPr id="4" name="TextBox 3">
            <a:extLst>
              <a:ext uri="{FF2B5EF4-FFF2-40B4-BE49-F238E27FC236}">
                <a16:creationId xmlns:a16="http://schemas.microsoft.com/office/drawing/2014/main" id="{FE55FEA0-6302-C4BA-D934-1BA8EE488451}"/>
              </a:ext>
            </a:extLst>
          </p:cNvPr>
          <p:cNvSpPr txBox="1"/>
          <p:nvPr/>
        </p:nvSpPr>
        <p:spPr>
          <a:xfrm>
            <a:off x="4310252" y="757547"/>
            <a:ext cx="3571494" cy="699166"/>
          </a:xfrm>
          <a:prstGeom prst="rect">
            <a:avLst/>
          </a:prstGeom>
          <a:noFill/>
        </p:spPr>
        <p:txBody>
          <a:bodyPr wrap="square">
            <a:spAutoFit/>
          </a:bodyPr>
          <a:lstStyle/>
          <a:p>
            <a:pPr marL="0" marR="0" lvl="0" indent="0" algn="ctr" rtl="0">
              <a:lnSpc>
                <a:spcPct val="157142"/>
              </a:lnSpc>
              <a:spcBef>
                <a:spcPts val="0"/>
              </a:spcBef>
              <a:spcAft>
                <a:spcPts val="0"/>
              </a:spcAft>
              <a:buClr>
                <a:srgbClr val="051D3A"/>
              </a:buClr>
              <a:buSzPts val="3500"/>
              <a:buFont typeface="Times New Roman"/>
              <a:buNone/>
            </a:pPr>
            <a:r>
              <a:rPr lang="en-US" sz="2800" b="1" dirty="0">
                <a:latin typeface="Arial" panose="020B0604020202020204" pitchFamily="34" charset="0"/>
                <a:cs typeface="Arial" panose="020B0604020202020204" pitchFamily="34" charset="0"/>
                <a:sym typeface="Times New Roman"/>
              </a:rPr>
              <a:t>Future Scope </a:t>
            </a:r>
          </a:p>
        </p:txBody>
      </p:sp>
    </p:spTree>
    <p:extLst>
      <p:ext uri="{BB962C8B-B14F-4D97-AF65-F5344CB8AC3E}">
        <p14:creationId xmlns:p14="http://schemas.microsoft.com/office/powerpoint/2010/main" val="15658273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4298586" y="499988"/>
            <a:ext cx="359482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dirty="0">
                <a:latin typeface="Arial" panose="020B0604020202020204" pitchFamily="34" charset="0"/>
                <a:cs typeface="Arial" panose="020B0604020202020204" pitchFamily="34" charset="0"/>
              </a:rPr>
              <a:t>Certificates Earned</a:t>
            </a:r>
          </a:p>
        </p:txBody>
      </p:sp>
      <p:pic>
        <p:nvPicPr>
          <p:cNvPr id="4" name="Picture 3">
            <a:extLst>
              <a:ext uri="{FF2B5EF4-FFF2-40B4-BE49-F238E27FC236}">
                <a16:creationId xmlns:a16="http://schemas.microsoft.com/office/drawing/2014/main" id="{41A4E3F8-BBF6-BE6B-FF7E-1EFA5D3DEF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5186" y="1291994"/>
            <a:ext cx="8421628" cy="5227584"/>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2833482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3F143-1794-0B3E-FCAB-979728AC251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9FA581E-4229-5CC9-4AE1-F442AD6982CC}"/>
              </a:ext>
            </a:extLst>
          </p:cNvPr>
          <p:cNvSpPr txBox="1"/>
          <p:nvPr/>
        </p:nvSpPr>
        <p:spPr>
          <a:xfrm>
            <a:off x="4298586" y="499988"/>
            <a:ext cx="359482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dirty="0">
                <a:latin typeface="Arial" panose="020B0604020202020204" pitchFamily="34" charset="0"/>
                <a:cs typeface="Arial" panose="020B0604020202020204" pitchFamily="34" charset="0"/>
              </a:rPr>
              <a:t>Certificates Earned</a:t>
            </a:r>
          </a:p>
        </p:txBody>
      </p:sp>
      <p:pic>
        <p:nvPicPr>
          <p:cNvPr id="3" name="Picture 2">
            <a:extLst>
              <a:ext uri="{FF2B5EF4-FFF2-40B4-BE49-F238E27FC236}">
                <a16:creationId xmlns:a16="http://schemas.microsoft.com/office/drawing/2014/main" id="{F22D851F-C438-6190-C693-3ABB8813C1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9131" y="1129897"/>
            <a:ext cx="8793738" cy="5435019"/>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39975223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F991E-8A34-0E55-ADA6-75F65FF8D73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75235F0-3125-42E4-F0B9-BCE21189D6BC}"/>
              </a:ext>
            </a:extLst>
          </p:cNvPr>
          <p:cNvSpPr txBox="1"/>
          <p:nvPr/>
        </p:nvSpPr>
        <p:spPr>
          <a:xfrm>
            <a:off x="4298586" y="499988"/>
            <a:ext cx="359482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dirty="0">
                <a:latin typeface="Arial" panose="020B0604020202020204" pitchFamily="34" charset="0"/>
                <a:cs typeface="Arial" panose="020B0604020202020204" pitchFamily="34" charset="0"/>
              </a:rPr>
              <a:t>Certificates Earned</a:t>
            </a:r>
          </a:p>
        </p:txBody>
      </p:sp>
      <p:pic>
        <p:nvPicPr>
          <p:cNvPr id="3" name="Picture 2">
            <a:extLst>
              <a:ext uri="{FF2B5EF4-FFF2-40B4-BE49-F238E27FC236}">
                <a16:creationId xmlns:a16="http://schemas.microsoft.com/office/drawing/2014/main" id="{C7504CA2-824D-5833-8496-35B6EED7E7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0177" y="1110894"/>
            <a:ext cx="8811645" cy="5450847"/>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37933402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85FCA-4474-5A47-D5DF-EB38183CA41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2D2A07A-E90D-83F2-9D46-7108E9F74E9F}"/>
              </a:ext>
            </a:extLst>
          </p:cNvPr>
          <p:cNvSpPr txBox="1"/>
          <p:nvPr/>
        </p:nvSpPr>
        <p:spPr>
          <a:xfrm>
            <a:off x="4298586" y="499988"/>
            <a:ext cx="359482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dirty="0">
                <a:latin typeface="Arial" panose="020B0604020202020204" pitchFamily="34" charset="0"/>
                <a:cs typeface="Arial" panose="020B0604020202020204" pitchFamily="34" charset="0"/>
              </a:rPr>
              <a:t>Certificates Earned</a:t>
            </a:r>
          </a:p>
        </p:txBody>
      </p:sp>
      <p:pic>
        <p:nvPicPr>
          <p:cNvPr id="3" name="Picture 2">
            <a:extLst>
              <a:ext uri="{FF2B5EF4-FFF2-40B4-BE49-F238E27FC236}">
                <a16:creationId xmlns:a16="http://schemas.microsoft.com/office/drawing/2014/main" id="{325668C3-2EF9-4695-3F00-B5582D8E75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080" y="1165724"/>
            <a:ext cx="8839840" cy="5497745"/>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194618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TotalTime>
  <Words>1030</Words>
  <Application>Microsoft Office PowerPoint</Application>
  <PresentationFormat>Widescreen</PresentationFormat>
  <Paragraphs>103</Paragraphs>
  <Slides>25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Aptos</vt:lpstr>
      <vt:lpstr>Aptos Display</vt:lpstr>
      <vt:lpstr>Arial</vt:lpstr>
      <vt:lpstr>Calibri</vt:lpstr>
      <vt:lpstr>Times New Roman</vt:lpstr>
      <vt:lpstr>Wingdings</vt:lpstr>
      <vt:lpstr>Office Theme</vt:lpstr>
      <vt:lpstr>IBM University Engagement Project Submission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Pallavi Patluri</dc:creator>
  <cp:lastModifiedBy>Pallavi Patluri</cp:lastModifiedBy>
  <cp:revision>4</cp:revision>
  <dcterms:created xsi:type="dcterms:W3CDTF">2026-09-08T18:11:21Z</dcterms:created>
  <dcterms:modified xsi:type="dcterms:W3CDTF">2026-09-08T19:47:38Z</dcterms:modified>
</cp:coreProperties>
</file>